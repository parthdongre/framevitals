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35324"/>
            <a:ext cx="12191695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D8A72"/>
                </a:solidFill>
                <a:latin typeface="JetBrains Mono"/>
              </a:rPr>
              <a:t>DATALENS · AI   ·   END-SEMESTER REVIEW</a:t>
            </a:r>
            <a:endParaRPr sz="12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0" b="1">
                <a:solidFill>
                  <a:srgbClr val="0A0A0A"/>
                </a:solidFill>
                <a:latin typeface="Inter"/>
              </a:rPr>
              <a:t>DataLens AI</a:t>
            </a:r>
            <a:endParaRPr sz="64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D8A72"/>
                </a:solidFill>
                <a:latin typeface="Inter"/>
              </a:rPr>
              <a:t>Read the signal in your data.</a:t>
            </a:r>
            <a:endParaRPr sz="2400" b="1">
              <a:solidFill>
                <a:srgbClr val="0D8A72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Offline AI-Powered Dataset Analyzer</a:t>
            </a:r>
            <a:endParaRPr sz="14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4160520"/>
            <a:ext cx="11094415" cy="205740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GUIDE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Inter"/>
              </a:rPr>
              <a:t>Prof. Kishor Pathak</a:t>
            </a:r>
            <a:endParaRPr sz="14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TEAM  ·  GROUP 13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Parth Birari   ·  53 / IT D / 1251130415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Parth Dongre   ·  54 / IT D / 1251130421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Aryan Patil    ·  55 / IT D / 1251130411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Atharv Patil   ·  56 / IT D / 1251130441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71055" y="4343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D8A72"/>
                </a:solidFill>
                <a:latin typeface="JetBrains Mono"/>
              </a:rPr>
              <a:t>INSTITUTE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71055" y="4617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A0A0A"/>
                </a:solidFill>
                <a:latin typeface="Inter"/>
              </a:rPr>
              <a:t>Vishwakarma Institute of Technology, Pune</a:t>
            </a:r>
            <a:endParaRPr sz="14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71055" y="5029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Inter"/>
              </a:rPr>
              <a:t>Department of Information Technology</a:t>
            </a:r>
            <a:endParaRPr sz="1200" b="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1055" y="5577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JetBrains Mono"/>
              </a:rPr>
              <a:t>Date:  May 2026</a:t>
            </a:r>
            <a:endParaRPr sz="1100" b="0">
              <a:solidFill>
                <a:srgbClr val="555555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Contents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Twenty-two slides — from problem framing to thank-you.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501487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1.  Title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3.  Introduction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5.  Motivation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7.  Research Gaps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9.  System Architecture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11. Statistical Analysis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13. Machine Learning Pipeline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15. Time-Series &amp; Drift Detection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17. Agentic AI Layer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19. Limitations &amp; Future Work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21. References</a:t>
            </a:r>
            <a:endParaRPr sz="13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87287" y="2286000"/>
            <a:ext cx="5501487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2.  Contents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4.  Problem Statement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6.  Literature Review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8.  Objectives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10. Data Processing &amp; Quality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12. Anomaly Detection Engine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14. Explainable AI (SHAP)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16. Reporting &amp; Visualization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18. Tool Comparison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20. Conclusion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22. Thank You</a:t>
            </a:r>
            <a:endParaRPr sz="13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02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Introduction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What is DataLens AI?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1185855" cy="11887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11185855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Inter"/>
              </a:rPr>
              <a:t>DataLens AI is an offline-first analytics platform that:</a:t>
            </a:r>
            <a:endParaRPr sz="13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analyzes datasets automatically  ·  trains ML leaderboards  ·  detects anomalies and drift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generates explainable AI insights  ·  supports conversational dataset Q&amp;A — all locally.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3657600"/>
            <a:ext cx="3606698" cy="24688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3606698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1"/>
            <a:ext cx="324093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SUPPORTED FILE TYPES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3240938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CSV  ·  TSV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Excel (.xlsx / .xls)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JSON  ·  JSONL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Encoding waterfall handles BOM, mojibake, latin-1.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92498" y="3657600"/>
            <a:ext cx="3606698" cy="24688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2498" y="3657600"/>
            <a:ext cx="3606698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5378" y="3822191"/>
            <a:ext cx="324093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JetBrains Mono"/>
              </a:rPr>
              <a:t>CORE FEATURES</a:t>
            </a:r>
            <a:endParaRPr sz="1000" b="1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75378" y="4160520"/>
            <a:ext cx="3240938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Automated profiling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ML leaderboard generation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SHAP global + per-row explanations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Time-series analytics + drift detection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AI-powered dataset assistant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82076" y="3657600"/>
            <a:ext cx="3606698" cy="24688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2076" y="3657600"/>
            <a:ext cx="3606698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4956" y="3822191"/>
            <a:ext cx="324093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47A09"/>
                </a:solidFill>
                <a:latin typeface="JetBrains Mono"/>
              </a:rPr>
              <a:t>KEY PROPERTY</a:t>
            </a:r>
            <a:endParaRPr sz="1000" b="1">
              <a:solidFill>
                <a:srgbClr val="C47A09"/>
              </a:solidFill>
              <a:latin typeface="JetBrains Mon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4956" y="4160520"/>
            <a:ext cx="3240938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Mathematically grounded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Explainable &amp; reproducible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Privacy-friendly (offline-first)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Every claim traces to a named formula.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03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Problem Statement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Where existing tooling falls short.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B0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Problems with Existing Systems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5135727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Profiling tools lack ML capabilities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AutoML platforms ignore data quality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Drift systems require deployed models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Conversational AI hallucinates without grounding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B03737"/>
                </a:solidFill>
                <a:latin typeface="Inter"/>
              </a:rPr>
              <a:t>Privacy Risks</a:t>
            </a:r>
            <a:endParaRPr sz="1300" b="1">
              <a:solidFill>
                <a:srgbClr val="B03737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513572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Modern AI analytics tools are cloud-dependent,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closed-source, and unsafe for sensitive datasets.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Real-world Dataset Challenges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0167" y="2880360"/>
            <a:ext cx="5135727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Missing values  ·  mixed dtypes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Encoding mismatches (BOM, latin-1)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High-cardinality / ID-like columns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Hidden anomalies  ·  distribution drift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Irregular timestamps  ·  unicode pitfalls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70167" y="5212080"/>
            <a:ext cx="5135727" cy="9144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5285232"/>
            <a:ext cx="47699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GOAL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53047" y="5532120"/>
            <a:ext cx="476996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Inter"/>
              </a:rPr>
              <a:t>Build one unified offline AI-powered analytics platform.</a:t>
            </a:r>
            <a:endParaRPr sz="13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04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Motivation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Why DataLens AI?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Today's analytics workflow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Multiple disconnected tools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Manual preprocessing per dataset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Repetitive notebook scripting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Cloud lock-in for AI insights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Demands technical expertise from every analyst</a:t>
            </a:r>
            <a:endParaRPr sz="13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Our vision — one unified pipeline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0167" y="292608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Profiles data automatically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Performs ML analysis with a leaderboard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Explains predictions with SHAP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Detects anomalies &amp; drift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Tracks time-series structure</a:t>
            </a:r>
            <a:endParaRPr sz="13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Supports natural-language Q&amp;A — locally.</a:t>
            </a:r>
            <a:endParaRPr sz="13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05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Literature Review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Prior work across explainable AI · table understanding · drift · anomaly · AutoML.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148840"/>
          <a:ext cx="11430000" cy="420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937"/>
                <a:gridCol w="2411015"/>
                <a:gridCol w="2411015"/>
                <a:gridCol w="2500312"/>
                <a:gridCol w="2321718"/>
              </a:tblGrid>
              <a:tr h="34353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Research Area</a:t>
                      </a:r>
                      <a:endParaRPr sz="10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Paper / System</a:t>
                      </a:r>
                      <a:endParaRPr sz="10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Core Idea</a:t>
                      </a:r>
                      <a:endParaRPr sz="10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Key Contribution</a:t>
                      </a:r>
                      <a:endParaRPr sz="10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Gap Identified</a:t>
                      </a:r>
                      <a:endParaRPr sz="10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</a:tr>
              <a:tr h="38654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Explainable AI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SHAP — Lundberg &amp; Lee (2017)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Explain predictions mathematically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Standard for feature attribution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High compute on large models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654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Conversational Analytics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PandasAI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NL interaction with datasets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LLM-generated pandas / SQL execution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Cloud dependence + hallucination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</a:tr>
              <a:tr h="38654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Table Understanding (LLM)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TableGPT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Unified table reasoning + commands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Querying, viz, prediction in one model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Cloud-scale compute required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654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Tabular LLMs (Office)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TableLLM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Spreadsheet manipulation by LLMs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Distant supervision + code generation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Limited ML diagnostics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</a:tr>
              <a:tr h="38654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Few-Shot Tabular ML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TabLLM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LLM-driven tabular classification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Competitive with classical tabular ML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Prediction-only; no profiling / anomalies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654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Table-Tuned LLMs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Table-GPT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LLM fine-tuned on diverse table tasks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Better generalization on table reasoning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Still depends on huge cloud LLMs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</a:tr>
              <a:tr h="38654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Drift Detection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Evidently AI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Detect dataset &amp; model drift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Popularized production ML monitoring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Needs deployed pipelines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654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Anomaly Detection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Isolation Forest (Liu et al. 2008)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Anomalies via random partitioning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Fast unsupervised detector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Single-model misses contextual outliers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</a:tr>
              <a:tr h="38654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Time-Series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STL — Cleveland et al. (1990)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Seasonal-trend decomposition (Loess)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Strong trend / seasonal analysis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Needs forecasting complement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655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A0A0A"/>
                          </a:solidFill>
                          <a:latin typeface="Inter"/>
                        </a:rPr>
                        <a:t>AutoML</a:t>
                      </a:r>
                      <a:endParaRPr sz="85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H2O.ai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Automate ML training &amp; selection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Simplified ML development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Inter"/>
                        </a:rPr>
                        <a:t>Weak profiling + explainability</a:t>
                      </a:r>
                      <a:endParaRPr sz="85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06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Research Gaps Identified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What no single tool delivers — and how DataLens AI fills the gap.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B0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Existing limitations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No unified offline analytics ecosystem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Limited explainability in AutoML platforms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Hallucination risk in conversational AI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Weak integration of ML + profiling + drift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Poor privacy guarantees on cloud assistants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Specialised tools — each solves one domain only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DataLens AI combines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0167" y="292608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Offline analytics  ·  privacy by default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Explainable ML pipelines (SHAP + permutation)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Multi-detector anomaly ensemble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PSI / KS / chi-square drift analysis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Time-series analytics (ADF · </a:t>
            </a:r>
            <a:r>
              <a:rPr sz="1200" baseline="-25000">
                <a:solidFill>
                  <a:srgbClr val="333333"/>
                </a:solidFill>
                <a:latin typeface="Inter"/>
              </a:rPr>
              <a:t>KPSS </a:t>
            </a:r>
            <a:r>
              <a:rPr sz="1200">
                <a:solidFill>
                  <a:srgbClr val="333333"/>
                </a:solidFill>
                <a:latin typeface="Inter"/>
              </a:rPr>
              <a:t>· STL · HW)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RAG-powered local AI assistant (Ollama)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07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Objectives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Seven things the system must do, end-to-end.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0" name="Group 39"/>
          <p:cNvGrpSpPr/>
          <p:nvPr/>
        </p:nvGrpSpPr>
        <p:grpSpPr>
          <a:xfrm>
            <a:off x="502920" y="1994535"/>
            <a:ext cx="10458165" cy="4705050"/>
            <a:chOff x="792" y="3528"/>
            <a:chExt cx="17616" cy="8216"/>
          </a:xfrm>
        </p:grpSpPr>
        <p:sp>
          <p:nvSpPr>
            <p:cNvPr id="31" name="Rectangle 30"/>
            <p:cNvSpPr/>
            <p:nvPr/>
          </p:nvSpPr>
          <p:spPr>
            <a:xfrm>
              <a:off x="792" y="10008"/>
              <a:ext cx="17616" cy="893"/>
            </a:xfrm>
            <a:prstGeom prst="rect">
              <a:avLst/>
            </a:prstGeom>
            <a:solidFill>
              <a:srgbClr val="F5F8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792" y="3528"/>
              <a:ext cx="17616" cy="8216"/>
              <a:chOff x="792" y="3528"/>
              <a:chExt cx="17616" cy="8216"/>
            </a:xfrm>
          </p:grpSpPr>
          <p:grpSp>
            <p:nvGrpSpPr>
              <p:cNvPr id="38" name="Group 37"/>
              <p:cNvGrpSpPr/>
              <p:nvPr/>
            </p:nvGrpSpPr>
            <p:grpSpPr>
              <a:xfrm>
                <a:off x="792" y="3528"/>
                <a:ext cx="17616" cy="893"/>
                <a:chOff x="792" y="3528"/>
                <a:chExt cx="17616" cy="893"/>
              </a:xfrm>
            </p:grpSpPr>
            <p:sp>
              <p:nvSpPr>
                <p:cNvPr id="7" name="Rectangle 6"/>
                <p:cNvSpPr/>
                <p:nvPr/>
              </p:nvSpPr>
              <p:spPr>
                <a:xfrm>
                  <a:off x="792" y="3528"/>
                  <a:ext cx="17616" cy="893"/>
                </a:xfrm>
                <a:prstGeom prst="rect">
                  <a:avLst/>
                </a:prstGeom>
                <a:solidFill>
                  <a:srgbClr val="F5F8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" name="Rectangle 7"/>
                <p:cNvSpPr/>
                <p:nvPr/>
              </p:nvSpPr>
              <p:spPr>
                <a:xfrm>
                  <a:off x="792" y="3528"/>
                  <a:ext cx="115" cy="893"/>
                </a:xfrm>
                <a:prstGeom prst="rect">
                  <a:avLst/>
                </a:prstGeom>
                <a:solidFill>
                  <a:srgbClr val="0D8A7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1080" y="3629"/>
                  <a:ext cx="1008" cy="5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l"/>
                  <a:r>
                    <a:rPr sz="2000" b="1">
                      <a:solidFill>
                        <a:srgbClr val="0D8A72"/>
                      </a:solidFill>
                      <a:latin typeface="JetBrains Mono"/>
                    </a:rPr>
                    <a:t>01</a:t>
                  </a:r>
                  <a:endParaRPr sz="2000" b="1">
                    <a:solidFill>
                      <a:srgbClr val="0D8A72"/>
                    </a:solidFill>
                    <a:latin typeface="JetBrains Mono"/>
                  </a:endParaRP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2160" y="3715"/>
                  <a:ext cx="16032" cy="34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l"/>
                  <a:r>
                    <a:rPr sz="1300" b="0">
                      <a:solidFill>
                        <a:srgbClr val="0A0A0A"/>
                      </a:solidFill>
                      <a:latin typeface="Inter"/>
                    </a:rPr>
                    <a:t>Auto-detect column roles, dtypes, and dataset signals.</a:t>
                  </a:r>
                  <a:endParaRPr sz="1300" b="0">
                    <a:solidFill>
                      <a:srgbClr val="0A0A0A"/>
                    </a:solidFill>
                    <a:latin typeface="Inter"/>
                  </a:endParaRPr>
                </a:p>
              </p:txBody>
            </p:sp>
          </p:grpSp>
          <p:sp>
            <p:nvSpPr>
              <p:cNvPr id="11" name="Rectangle 10"/>
              <p:cNvSpPr/>
              <p:nvPr/>
            </p:nvSpPr>
            <p:spPr>
              <a:xfrm>
                <a:off x="792" y="4608"/>
                <a:ext cx="17616" cy="893"/>
              </a:xfrm>
              <a:prstGeom prst="rect">
                <a:avLst/>
              </a:prstGeom>
              <a:solidFill>
                <a:srgbClr val="F5F8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92" y="4608"/>
                <a:ext cx="115" cy="893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080" y="4709"/>
                <a:ext cx="1008" cy="53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2000" b="1">
                    <a:solidFill>
                      <a:srgbClr val="2563EB"/>
                    </a:solidFill>
                    <a:latin typeface="JetBrains Mono"/>
                  </a:rPr>
                  <a:t>02</a:t>
                </a:r>
                <a:endParaRPr sz="2000" b="1">
                  <a:solidFill>
                    <a:srgbClr val="2563EB"/>
                  </a:solidFill>
                  <a:latin typeface="JetBrains Mono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160" y="4795"/>
                <a:ext cx="16032" cy="34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1300" b="0">
                    <a:solidFill>
                      <a:srgbClr val="0A0A0A"/>
                    </a:solidFill>
                    <a:latin typeface="Inter"/>
                  </a:rPr>
                  <a:t>Produce 0–100 Health and ML-Readiness scores.</a:t>
                </a:r>
                <a:endParaRPr sz="1300" b="0">
                  <a:solidFill>
                    <a:srgbClr val="0A0A0A"/>
                  </a:solidFill>
                  <a:latin typeface="Inter"/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792" y="5688"/>
                <a:ext cx="17616" cy="893"/>
              </a:xfrm>
              <a:prstGeom prst="rect">
                <a:avLst/>
              </a:prstGeom>
              <a:solidFill>
                <a:srgbClr val="F5F8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92" y="5688"/>
                <a:ext cx="115" cy="893"/>
              </a:xfrm>
              <a:prstGeom prst="rect">
                <a:avLst/>
              </a:prstGeom>
              <a:solidFill>
                <a:srgbClr val="C47A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080" y="5789"/>
                <a:ext cx="1008" cy="53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2000" b="1">
                    <a:solidFill>
                      <a:srgbClr val="C47A09"/>
                    </a:solidFill>
                    <a:latin typeface="JetBrains Mono"/>
                  </a:rPr>
                  <a:t>03</a:t>
                </a:r>
                <a:endParaRPr sz="2000" b="1">
                  <a:solidFill>
                    <a:srgbClr val="C47A09"/>
                  </a:solidFill>
                  <a:latin typeface="JetBrains Mono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160" y="5875"/>
                <a:ext cx="16032" cy="34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1300" b="0">
                    <a:solidFill>
                      <a:srgbClr val="0A0A0A"/>
                    </a:solidFill>
                    <a:latin typeface="Inter"/>
                  </a:rPr>
                  <a:t>Run a cross-validated 7-model leaderboard for any target.</a:t>
                </a:r>
                <a:endParaRPr sz="1300" b="0">
                  <a:solidFill>
                    <a:srgbClr val="0A0A0A"/>
                  </a:solidFill>
                  <a:latin typeface="Inter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792" y="6768"/>
                <a:ext cx="17616" cy="893"/>
              </a:xfrm>
              <a:prstGeom prst="rect">
                <a:avLst/>
              </a:prstGeom>
              <a:solidFill>
                <a:srgbClr val="F5F8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792" y="6768"/>
                <a:ext cx="115" cy="893"/>
              </a:xfrm>
              <a:prstGeom prst="rect">
                <a:avLst/>
              </a:prstGeom>
              <a:solidFill>
                <a:srgbClr val="0D8A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080" y="6869"/>
                <a:ext cx="1008" cy="53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2000" b="1">
                    <a:solidFill>
                      <a:srgbClr val="0D8A72"/>
                    </a:solidFill>
                    <a:latin typeface="JetBrains Mono"/>
                  </a:rPr>
                  <a:t>04</a:t>
                </a:r>
                <a:endParaRPr sz="2000" b="1">
                  <a:solidFill>
                    <a:srgbClr val="0D8A72"/>
                  </a:solidFill>
                  <a:latin typeface="JetBrains Mono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2160" y="6955"/>
                <a:ext cx="16032" cy="34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1300" b="0">
                    <a:solidFill>
                      <a:srgbClr val="0A0A0A"/>
                    </a:solidFill>
                    <a:latin typeface="Inter"/>
                  </a:rPr>
                  <a:t>Generate global + per-row SHAP attributions for the winner.</a:t>
                </a:r>
                <a:endParaRPr sz="1300" b="0">
                  <a:solidFill>
                    <a:srgbClr val="0A0A0A"/>
                  </a:solidFill>
                  <a:latin typeface="Inter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792" y="7848"/>
                <a:ext cx="17616" cy="893"/>
              </a:xfrm>
              <a:prstGeom prst="rect">
                <a:avLst/>
              </a:prstGeom>
              <a:solidFill>
                <a:srgbClr val="F5F8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792" y="7848"/>
                <a:ext cx="115" cy="893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1080" y="7949"/>
                <a:ext cx="1008" cy="53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2000" b="1">
                    <a:solidFill>
                      <a:srgbClr val="2563EB"/>
                    </a:solidFill>
                    <a:latin typeface="JetBrains Mono"/>
                  </a:rPr>
                  <a:t>05</a:t>
                </a:r>
                <a:endParaRPr sz="2000" b="1">
                  <a:solidFill>
                    <a:srgbClr val="2563EB"/>
                  </a:solidFill>
                  <a:latin typeface="JetBrains Mono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2160" y="8035"/>
                <a:ext cx="16032" cy="34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1300" b="0">
                    <a:solidFill>
                      <a:srgbClr val="0A0A0A"/>
                    </a:solidFill>
                    <a:latin typeface="Inter"/>
                  </a:rPr>
                  <a:t>Detect time-series structure (ADF + KPSS + STL + Holt-Winters).</a:t>
                </a:r>
                <a:endParaRPr sz="1300" b="0">
                  <a:solidFill>
                    <a:srgbClr val="0A0A0A"/>
                  </a:solidFill>
                  <a:latin typeface="Inter"/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92" y="8928"/>
                <a:ext cx="17616" cy="893"/>
              </a:xfrm>
              <a:prstGeom prst="rect">
                <a:avLst/>
              </a:prstGeom>
              <a:solidFill>
                <a:srgbClr val="F5F8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792" y="8928"/>
                <a:ext cx="115" cy="893"/>
              </a:xfrm>
              <a:prstGeom prst="rect">
                <a:avLst/>
              </a:prstGeom>
              <a:solidFill>
                <a:srgbClr val="C47A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080" y="9029"/>
                <a:ext cx="1008" cy="53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2000" b="1">
                    <a:solidFill>
                      <a:srgbClr val="C47A09"/>
                    </a:solidFill>
                    <a:latin typeface="JetBrains Mono"/>
                  </a:rPr>
                  <a:t>06</a:t>
                </a:r>
                <a:endParaRPr sz="2000" b="1">
                  <a:solidFill>
                    <a:srgbClr val="C47A09"/>
                  </a:solidFill>
                  <a:latin typeface="JetBrains Mono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160" y="9115"/>
                <a:ext cx="16032" cy="34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1300" b="0">
                    <a:solidFill>
                      <a:srgbClr val="0A0A0A"/>
                    </a:solidFill>
                    <a:latin typeface="Inter"/>
                  </a:rPr>
                  <a:t>Compute PSI / KS / chi-square drift between halves of one upload.</a:t>
                </a:r>
                <a:endParaRPr sz="1300" b="0">
                  <a:solidFill>
                    <a:srgbClr val="0A0A0A"/>
                  </a:solidFill>
                  <a:latin typeface="Inter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792" y="10008"/>
                <a:ext cx="115" cy="893"/>
              </a:xfrm>
              <a:prstGeom prst="rect">
                <a:avLst/>
              </a:prstGeom>
              <a:solidFill>
                <a:srgbClr val="0D8A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080" y="10109"/>
                <a:ext cx="1008" cy="53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2000" b="1">
                    <a:solidFill>
                      <a:srgbClr val="0D8A72"/>
                    </a:solidFill>
                    <a:latin typeface="JetBrains Mono"/>
                  </a:rPr>
                  <a:t>07</a:t>
                </a:r>
                <a:endParaRPr sz="2000" b="1">
                  <a:solidFill>
                    <a:srgbClr val="0D8A72"/>
                  </a:solidFill>
                  <a:latin typeface="JetBrains Mono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2160" y="10195"/>
                <a:ext cx="16032" cy="34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1300" b="0">
                    <a:solidFill>
                      <a:srgbClr val="0A0A0A"/>
                    </a:solidFill>
                    <a:latin typeface="Inter"/>
                  </a:rPr>
                  <a:t>Expose chat-style Q&amp;A grounded in the analysis result via RAG.</a:t>
                </a:r>
                <a:endParaRPr sz="1300" b="0">
                  <a:solidFill>
                    <a:srgbClr val="0A0A0A"/>
                  </a:solidFill>
                  <a:latin typeface="Inter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92" y="11502"/>
                <a:ext cx="7200" cy="24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900" b="0">
                    <a:solidFill>
                      <a:srgbClr val="555555"/>
                    </a:solidFill>
                    <a:latin typeface="JetBrains Mono"/>
                  </a:rPr>
                  <a:t>DataLens AI  ·  End-Semester Review  ·  Group 13</a:t>
                </a:r>
                <a:endParaRPr sz="900" b="0">
                  <a:solidFill>
                    <a:srgbClr val="555555"/>
                  </a:solidFill>
                  <a:latin typeface="JetBrains Mono"/>
                </a:endParaRPr>
              </a:p>
            </p:txBody>
          </p:sp>
        </p:grpSp>
      </p:grpSp>
      <p:sp>
        <p:nvSpPr>
          <p:cNvPr id="37" name="TextBox 36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08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System Architecture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Six-phase pipeline · 40+ modules · parallel where safe.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1750009" cy="23317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1750009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496312"/>
            <a:ext cx="502920" cy="292608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328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P1</a:t>
            </a:r>
            <a:endParaRPr sz="11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79"/>
            <a:ext cx="147568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INGEST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39"/>
            <a:ext cx="147568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JetBrains Mono"/>
              </a:rPr>
              <a:t>load → profile → roles → signals → selector</a:t>
            </a:r>
            <a:endParaRPr sz="10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90089" y="2331720"/>
            <a:ext cx="1750009" cy="23317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0089" y="2331720"/>
            <a:ext cx="1750009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1529" y="2496312"/>
            <a:ext cx="50292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1529" y="25328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P2</a:t>
            </a:r>
            <a:endParaRPr sz="11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27249" y="2926079"/>
            <a:ext cx="147568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QUALITY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27249" y="3291839"/>
            <a:ext cx="147568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JetBrains Mono"/>
              </a:rPr>
              <a:t>health → ML-readiness → auto-cleaner</a:t>
            </a:r>
            <a:endParaRPr sz="10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77258" y="2331720"/>
            <a:ext cx="1750009" cy="23317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7258" y="2331720"/>
            <a:ext cx="1750009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8698" y="2496312"/>
            <a:ext cx="502920" cy="292608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8698" y="25328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P3</a:t>
            </a:r>
            <a:endParaRPr sz="11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14418" y="2926079"/>
            <a:ext cx="147568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PARALLEL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14418" y="3291839"/>
            <a:ext cx="147568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JetBrains Mono"/>
              </a:rPr>
              <a:t>deep stats · anomalies · time-series · text</a:t>
            </a:r>
            <a:endParaRPr sz="10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64427" y="2331720"/>
            <a:ext cx="1750009" cy="23317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4427" y="2331720"/>
            <a:ext cx="1750009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5867" y="2496312"/>
            <a:ext cx="502920" cy="2926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5867" y="25328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P4</a:t>
            </a:r>
            <a:endParaRPr sz="11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1587" y="2926079"/>
            <a:ext cx="147568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ML CHAIN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1587" y="3291839"/>
            <a:ext cx="147568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JetBrains Mono"/>
              </a:rPr>
              <a:t>leaderboard → SHAP explainability</a:t>
            </a:r>
            <a:endParaRPr sz="10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51596" y="2331720"/>
            <a:ext cx="1750009" cy="23317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51596" y="2331720"/>
            <a:ext cx="1750009" cy="54864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43036" y="2496312"/>
            <a:ext cx="502920" cy="292608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3036" y="25328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P5</a:t>
            </a:r>
            <a:endParaRPr sz="11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88756" y="2926079"/>
            <a:ext cx="147568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REPORTING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88756" y="3291839"/>
            <a:ext cx="147568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JetBrains Mono"/>
              </a:rPr>
              <a:t>chart planner → visualizer → PDF builder</a:t>
            </a:r>
            <a:endParaRPr sz="10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938765" y="2331720"/>
            <a:ext cx="1750009" cy="23317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8765" y="2331720"/>
            <a:ext cx="1750009" cy="54864"/>
          </a:xfrm>
          <a:prstGeom prst="rect">
            <a:avLst/>
          </a:prstGeom>
          <a:solidFill>
            <a:srgbClr val="B0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30205" y="2496312"/>
            <a:ext cx="502920" cy="292608"/>
          </a:xfrm>
          <a:prstGeom prst="rect">
            <a:avLst/>
          </a:prstGeom>
          <a:solidFill>
            <a:srgbClr val="B0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30205" y="25328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P6</a:t>
            </a:r>
            <a:endParaRPr sz="11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075925" y="2926079"/>
            <a:ext cx="147568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AGENTIC AI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75925" y="3291839"/>
            <a:ext cx="147568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JetBrains Mono"/>
              </a:rPr>
              <a:t>brief → RAG index → local LLM → answer</a:t>
            </a:r>
            <a:endParaRPr sz="10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" y="2057400"/>
            <a:ext cx="111858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JetBrains Mono"/>
              </a:rPr>
              <a:t>React Dashboard (17 tabs)  ·  Streamlit Console  ·  Flask API :5055</a:t>
            </a:r>
            <a:endParaRPr sz="10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4800600"/>
            <a:ext cx="111858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JetBrains Mono"/>
              </a:rPr>
              <a:t>JSON contract  ·  20+ chart PNGs  ·  cleaned CSV  ·  multi-page PDF report</a:t>
            </a:r>
            <a:endParaRPr sz="10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2920" y="5166359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JetBrains Mono"/>
              </a:rPr>
              <a:t>_safe_call() wraps every parallel branch — single failure ⇒ { "available": false } instead of sinking the run.</a:t>
            </a:r>
            <a:endParaRPr sz="10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09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Data Processing &amp; Quality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Ingest mechanics · weighted health · auto-cleaner.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606698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606698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324093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 INGESTION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2409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Multi-format support  (CSV · TSV · Excel · JSON)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Encoding waterfall:  utf-8-sig → utf-8 → windows-1252 → latin-1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Secure CSV handling — werkzeug.secure_filename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CSV-injection guard prefixes  =  +  -  @  cells with  '</a:t>
            </a:r>
            <a:endParaRPr sz="11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8218" y="2286000"/>
            <a:ext cx="3606698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2286000"/>
            <a:ext cx="3606698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098" y="2450592"/>
            <a:ext cx="324093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JetBrains Mono"/>
              </a:rPr>
              <a:t>HEALTH SCORE</a:t>
            </a:r>
            <a:endParaRPr sz="1000" b="1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1098" y="2788920"/>
            <a:ext cx="32409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Components — completeness · consistency · uniqueness · outlier safety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Health = 0.30·Completeness + 0.20·Consistency + 0.20·Uniqueness + 0.20·Safety + 10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Labels — ≥90 Excellent · ≥75 Good · ≥60 Moderate · ≥40 Poor · else Critical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Outlier detection via 1.5·IQR per numeric column</a:t>
            </a:r>
            <a:endParaRPr sz="11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73516" y="2286000"/>
            <a:ext cx="3606698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3516" y="2286000"/>
            <a:ext cx="3606698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2450592"/>
            <a:ext cx="324093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47A09"/>
                </a:solidFill>
                <a:latin typeface="JetBrains Mono"/>
              </a:rPr>
              <a:t>AUTO-CLEANING</a:t>
            </a:r>
            <a:endParaRPr sz="1000" b="1">
              <a:solidFill>
                <a:srgbClr val="C47A09"/>
              </a:solidFill>
              <a:latin typeface="JetBrains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56396" y="2788920"/>
            <a:ext cx="32409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Numeric NaN → median impute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Categorical NaN → mode impute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drop_duplicates() on exact-match rows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Cleaned CSV → cleaned/&lt;id&gt;_cleaned.csv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Health re-computed before vs after</a:t>
            </a:r>
            <a:endParaRPr sz="11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10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Statistical Analysis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Univariate · bivariate · best-fit distribution.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Statistical modules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Per-column descriptives (mean, σ, IQR)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Skewness γ₁ + label · Kurtosis γ₂ + label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Three-view outlier flags (IQR · z · MAD)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Normality battery — Shapiro · D'Agostino · Anderson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AIC distribution fit across 6 candidates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Bootstrap 95 % CIs for mean and median (BCa)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Bivariate tests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0167" y="288036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Numeric × numeric — Pearson · Spearman · Kendall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Categorical × categorical — chi-square + Cramér's V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Binary × numeric — point-biserial correlation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Group differences — Mann-Whitney U / Kruskal-Wallis H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Multicollinearity — VIFⱼ = 1 / (1 − R²ⱼ)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Target leakage — flag |Pearson r| ≥ 0.98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11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Anomaly Detection Engine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Five normalised detectors averaged into a [0,1] consensus.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65930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65930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423160"/>
            <a:ext cx="23301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Isolation Forest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" y="2788920"/>
            <a:ext cx="23301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0D8A72"/>
                </a:solidFill>
                <a:latin typeface="JetBrains Mono"/>
              </a:rPr>
              <a:t>score(x) = 2^(−E[h(x)]/c(n))</a:t>
            </a:r>
            <a:endParaRPr sz="1000" b="0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" y="3200400"/>
            <a:ext cx="23301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shorter average path ⇒ more anomalous</a:t>
            </a:r>
            <a:endParaRPr sz="10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45103" y="2286000"/>
            <a:ext cx="265930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5103" y="2286000"/>
            <a:ext cx="265930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9695" y="2423160"/>
            <a:ext cx="23301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Local Outlier Factor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09695" y="2788920"/>
            <a:ext cx="23301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JetBrains Mono"/>
              </a:rPr>
              <a:t>LOF_k(x) = mean( lrd(y) / lrd(x) )</a:t>
            </a:r>
            <a:endParaRPr sz="1000" b="0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09695" y="3200400"/>
            <a:ext cx="23301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ratio of local density to k neighbours</a:t>
            </a:r>
            <a:endParaRPr sz="10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87287" y="2286000"/>
            <a:ext cx="265930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2286000"/>
            <a:ext cx="2659303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1879" y="2423160"/>
            <a:ext cx="23301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Robust z (MAD)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1879" y="2788920"/>
            <a:ext cx="23301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47A09"/>
                </a:solidFill>
                <a:latin typeface="JetBrains Mono"/>
              </a:rPr>
              <a:t>z* = (x − median) / (1.4826·MAD)</a:t>
            </a:r>
            <a:endParaRPr sz="1000" b="0">
              <a:solidFill>
                <a:srgbClr val="C47A09"/>
              </a:solidFill>
              <a:latin typeface="JetBrains Mon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51879" y="3200400"/>
            <a:ext cx="23301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flag |z*| &gt; 3.5  ·  breakdown-resilient</a:t>
            </a:r>
            <a:endParaRPr sz="10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29471" y="2286000"/>
            <a:ext cx="265930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71" y="2286000"/>
            <a:ext cx="2659303" cy="54864"/>
          </a:xfrm>
          <a:prstGeom prst="rect">
            <a:avLst/>
          </a:prstGeom>
          <a:solidFill>
            <a:srgbClr val="B0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4063" y="2423160"/>
            <a:ext cx="23301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Inter"/>
              </a:rPr>
              <a:t>Mahalanobis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94063" y="2788920"/>
            <a:ext cx="23301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B03737"/>
                </a:solidFill>
                <a:latin typeface="JetBrains Mono"/>
              </a:rPr>
              <a:t>D²(x) = (x−μ)ᵀ Σ⁻¹ (x−μ)</a:t>
            </a:r>
            <a:endParaRPr sz="1000" b="0">
              <a:solidFill>
                <a:srgbClr val="B03737"/>
              </a:solidFill>
              <a:latin typeface="JetBrains Mon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94063" y="3200400"/>
            <a:ext cx="23301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Σ via Minimum-Covariance-Determinant</a:t>
            </a:r>
            <a:endParaRPr sz="10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4023360"/>
            <a:ext cx="11185855" cy="219456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023360"/>
            <a:ext cx="11185855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6052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Why an ensemble?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4572000"/>
            <a:ext cx="10820095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Each detector is min-max normalised to [0, 1].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Ensemble s(x) = mean across available detectors  ·  flag if s(x) ≥ 0.6.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Improves robustness, lowers false positives, captures different anomaly patterns.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Output  →  per-row scores + top-25 flagged rows + per-detector breakdown.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12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Machine Learning Pipeline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Auto-detect task · 7-model leaderboard · 5-fold CV.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ML workflow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Auto task detection — classification when target has ≤ 10 unique values; else regression.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Unified preprocessing — median impute · stringify · OneHotEncoder(handle_unknown='ignore').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5-fold StratifiedKFold (clf) · KFold (reg) · cross_validate.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Winner refit on 75 % · validated on 25 % holdout.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Diagnostics — confusion matrix · residual summary · top-10 worst predictions.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Models on the leaderboard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0167" y="2880360"/>
            <a:ext cx="5135727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Random Forest  ·  Gradient Boosting  ·  XGBoost  ·  LightGBM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Logistic / Linear (Ridge / Lasso)  ·  K-Neighbors  ·  Dummy baseline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0167" y="443484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Inter"/>
              </a:rPr>
              <a:t>Metrics reported</a:t>
            </a:r>
            <a:endParaRPr sz="13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0167" y="4754880"/>
            <a:ext cx="5135727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Classification — Accuracy · Precision · Recall · F1 weighted · Brier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Regression — R² · MAE · RMSE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Each metric: per-fold mean ± std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13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Explainable AI (SHAP)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Trace every prediction back to its features.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1185855" cy="96012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11185855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D8A72"/>
                </a:solidFill>
                <a:latin typeface="JetBrains Mono"/>
              </a:rPr>
              <a:t>Shapley value (Lundberg &amp; Lee 2017)</a:t>
            </a:r>
            <a:endParaRPr sz="12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JetBrains Mono"/>
              </a:rPr>
              <a:t>φᵢ(x)  =  Σ_{S⊆F\{i}}  |S|! (|F|−|S|−1)! / |F|!  ·  [v(S∪{i}) − v(S)]</a:t>
            </a:r>
            <a:endParaRPr sz="1400" b="1">
              <a:solidFill>
                <a:srgbClr val="0A0A0A"/>
              </a:solidFill>
              <a:latin typeface="JetBrains Mono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3606698" cy="29260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3606698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547872"/>
            <a:ext cx="32775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WHY EXPLAINABILITY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" y="3886200"/>
            <a:ext cx="3277514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Most AI systems behave like black boxes.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DataLens AI traces every prediction.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Local accuracy:  Σᵢ φᵢ(x) + E[ŷ] = ŷ(x).</a:t>
            </a:r>
            <a:endParaRPr sz="11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38218" y="3383280"/>
            <a:ext cx="3606698" cy="29260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3383280"/>
            <a:ext cx="3606698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2810" y="3547872"/>
            <a:ext cx="32775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JetBrains Mono"/>
              </a:rPr>
              <a:t>OUTPUTS</a:t>
            </a:r>
            <a:endParaRPr sz="1000" b="1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02810" y="3886200"/>
            <a:ext cx="3277514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Top-15 global features (one-hot dummies summed back to parents)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Top-3 per-row stories (e.g. 'price +$45.2K due to Location')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SHAP beeswarm summary PNG saved to static/charts/</a:t>
            </a:r>
            <a:endParaRPr sz="11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73516" y="3383280"/>
            <a:ext cx="3606698" cy="29260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73516" y="3383280"/>
            <a:ext cx="3606698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8108" y="3547872"/>
            <a:ext cx="32775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47A09"/>
                </a:solidFill>
                <a:latin typeface="JetBrains Mono"/>
              </a:rPr>
              <a:t>IMPLEMENTATIONS</a:t>
            </a:r>
            <a:endParaRPr sz="1000" b="1">
              <a:solidFill>
                <a:srgbClr val="C47A09"/>
              </a:solidFill>
              <a:latin typeface="JetBrains Mon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38108" y="3886200"/>
            <a:ext cx="3277514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shap.TreeExplainer  →  RF · GB · XGB · LGBM (poly-time exact)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shap.LinearExplainer  →  LogReg · Ridge · Lasso (closed form)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Permutation importance — always-available cross-check</a:t>
            </a:r>
            <a:endParaRPr sz="11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14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Time-Series &amp; Drift Detection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ADF · KPSS · STL · Holt-Winters · PSI · KS · chi-square.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Time-series features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Auto date detection  —  parse-rate × monotonicity × name keyword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Frequency inference + FFT-based period detection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Stationarity:  ADF (H₀ unit root) + KPSS (H₀ stationary) → 4-way verdict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STL decomposition  ·  trend / seasonal strengths via Hyndman 2018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Forecast: Holt-Winters additive vs naive last-value baseline (MAE / RMSE)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Drift detection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0167" y="2880360"/>
            <a:ext cx="5135727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PSI  =  Σ ( p_cur − p_ref ) · ln( p_cur / p_ref 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KS two-sample  ·  flag if p &lt; 0.01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Categorical chi-square independence test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0167" y="45720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Inter"/>
              </a:rPr>
              <a:t>Severity buckets (PSI)</a:t>
            </a:r>
            <a:endParaRPr sz="13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0167" y="4892040"/>
            <a:ext cx="5135727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&lt; 0.10  →  stable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&lt; 0.25  →  minor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&lt; 0.50  →  moderate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≥ 0.50  →  severe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15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Reporting &amp; Visualization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Role-aware chart planner · 20+ chart types · multi-page PDF.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606698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606698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324093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AUTOMATED REPORTING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2409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Interactive React dashboard — 17 tabs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Statistical &amp; ML charts auto-rendered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Multi-page styled PDF report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Cleaned CSV download</a:t>
            </a:r>
            <a:endParaRPr sz="11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8218" y="2286000"/>
            <a:ext cx="3606698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2286000"/>
            <a:ext cx="3606698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098" y="2450592"/>
            <a:ext cx="324093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JetBrains Mono"/>
              </a:rPr>
              <a:t>SMART CHART PLANNER</a:t>
            </a:r>
            <a:endParaRPr sz="1000" b="1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1098" y="2788920"/>
            <a:ext cx="32409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Selects chart specs from column roles + dataset signals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Skips meaningless charts (no histogram of an ID column)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Light-up triggers for time-series, leaderboard, SHAP</a:t>
            </a:r>
            <a:endParaRPr sz="11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73516" y="2286000"/>
            <a:ext cx="3606698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3516" y="2286000"/>
            <a:ext cx="3606698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2450592"/>
            <a:ext cx="324093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47A09"/>
                </a:solidFill>
                <a:latin typeface="JetBrains Mono"/>
              </a:rPr>
              <a:t>RENDERING STACK</a:t>
            </a:r>
            <a:endParaRPr sz="1000" b="1">
              <a:solidFill>
                <a:srgbClr val="C47A09"/>
              </a:solidFill>
              <a:latin typeface="JetBrains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56396" y="2788920"/>
            <a:ext cx="32409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Matplotlib (Agg backend) · Seaborn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Plotly  ·  Highcharts (in React)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Editorial dark palette mirrors the dashboard tokens</a:t>
            </a:r>
            <a:endParaRPr sz="11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Inter"/>
              </a:rPr>
              <a:t>•  PNGs saved to static/charts/&lt;dataset_id&gt;_*.png</a:t>
            </a:r>
            <a:endParaRPr sz="11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16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Agentic AI Layer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Local LLM grounded by RAG · sandboxed pandas execution.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1944563" cy="8229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194456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Inter"/>
              </a:rPr>
              <a:t>Dataset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493203" y="2587752"/>
            <a:ext cx="274320" cy="21945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3243" y="2286000"/>
            <a:ext cx="1944563" cy="8229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3243" y="2286000"/>
            <a:ext cx="194456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4683" y="251460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Inter"/>
              </a:rPr>
              <a:t>Embeddings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803526" y="2587752"/>
            <a:ext cx="274319" cy="21945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3566" y="2286000"/>
            <a:ext cx="1944563" cy="8229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3566" y="2286000"/>
            <a:ext cx="1944563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5006" y="251460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Inter"/>
              </a:rPr>
              <a:t>RAG Top-k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113849" y="2587752"/>
            <a:ext cx="274319" cy="21945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33889" y="2286000"/>
            <a:ext cx="1944563" cy="8229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33889" y="2286000"/>
            <a:ext cx="1944563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329" y="251460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Inter"/>
              </a:rPr>
              <a:t>LLM Writer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9424172" y="2587752"/>
            <a:ext cx="274319" cy="21945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44212" y="2286000"/>
            <a:ext cx="1944563" cy="8229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44212" y="2286000"/>
            <a:ext cx="194456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35652" y="251460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Inter"/>
              </a:rPr>
              <a:t>Answer</a:t>
            </a:r>
            <a:endParaRPr sz="1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3657600"/>
            <a:ext cx="5501487" cy="26517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6576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822191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Inter"/>
              </a:rPr>
              <a:t>Features</a:t>
            </a:r>
            <a:endParaRPr sz="14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4206240"/>
            <a:ext cx="5135727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Local Ollama integration (qwen3:4b, gpt-oss:120b-cloud, …)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TF-IDF fallback when Ollama is offline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Dataset-aware retrieval — facts walked from analysis result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cosine similarity:  sim(q, cᵢ) = (q · cᵢ) / (‖q‖ ‖cᵢ‖)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Sandboxed pandas via AST allow-list (safe_pandas.py)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87287" y="3657600"/>
            <a:ext cx="5501487" cy="26517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7287" y="3657600"/>
            <a:ext cx="550148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0167" y="3822191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Inter"/>
              </a:rPr>
              <a:t>Why grounded?</a:t>
            </a:r>
            <a:endParaRPr sz="14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70167" y="4206240"/>
            <a:ext cx="5135727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Every answer cites the analysis dictionary, not generated prose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Planner → Executor → Critic → Writer (full path)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Fast path — single writer call with brief + retrieved facts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Result: AI answers are reliable, explainable, mathematically grounded.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17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Tool Comparison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Where DataLens AI lands against the four families of competing tools.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286000"/>
          <a:ext cx="1115567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9768"/>
                <a:gridCol w="1731053"/>
                <a:gridCol w="1923393"/>
                <a:gridCol w="1923393"/>
                <a:gridCol w="2308071"/>
              </a:tblGrid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Feature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DataLens AI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Profiling Tools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Cloud AutoML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Conversational AI</a:t>
                      </a:r>
                      <a:endParaRPr sz="12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0D8A72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Inter"/>
                        </a:rPr>
                        <a:t>Offline Processing</a:t>
                      </a:r>
                      <a:endParaRPr sz="110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Inter"/>
                        </a:rPr>
                        <a:t>ML Leaderboard</a:t>
                      </a:r>
                      <a:endParaRPr sz="110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Partial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Inter"/>
                        </a:rPr>
                        <a:t>SHAP Explainability</a:t>
                      </a:r>
                      <a:endParaRPr sz="110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Limited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Inter"/>
                        </a:rPr>
                        <a:t>Drift Detection</a:t>
                      </a:r>
                      <a:endParaRPr sz="110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Inter"/>
                        </a:rPr>
                        <a:t>Anomaly Ensemble</a:t>
                      </a:r>
                      <a:endParaRPr sz="110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Inter"/>
                        </a:rPr>
                        <a:t>Time-Series Analytics</a:t>
                      </a:r>
                      <a:endParaRPr sz="110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Partial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Inter"/>
                        </a:rPr>
                        <a:t>AI Dataset Chat</a:t>
                      </a:r>
                      <a:endParaRPr sz="110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Inter"/>
                        </a:rPr>
                        <a:t>Privacy Friendly</a:t>
                      </a:r>
                      <a:endParaRPr sz="1100" b="1">
                        <a:solidFill>
                          <a:srgbClr val="0A0A0A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Inter"/>
                        </a:rPr>
                        <a:t>—</a:t>
                      </a:r>
                      <a:endParaRPr sz="1100" b="0">
                        <a:solidFill>
                          <a:srgbClr val="333333"/>
                        </a:solidFill>
                        <a:latin typeface="Inter"/>
                      </a:endParaRPr>
                    </a:p>
                  </a:txBody>
                  <a:tcPr marL="73152" marR="73152" anchor="ctr">
                    <a:solidFill>
                      <a:srgbClr val="FBFC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18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Limitations &amp; Future Work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What v3 doesn't solve yet — and where v4 should go.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B0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Current limitations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Default ML hyperparameters — leaderboard is a baseline, not state-of-art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Drift compares two halves of one upload (no persistent baseline)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In-memory pipeline — degrades &gt; 1 M rows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Associational only — no causal inference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English-centric NLP (NLTK stopwords, English seed lexicon)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Snapshot-based — no real-time / streaming support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Future improvements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0167" y="2880360"/>
            <a:ext cx="513572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Hyperparameter optimization with Optuna for the leaderboard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Persistent drift baselines — store time-zero snapshot per dataset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Streaming / sampled variants of deep stats and anomaly ensemble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Causal inference (DoWhy / EconML) on declared treatment + outcome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Multi-agent AI workflows (planner / executor / critic specialised)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Multilingual NLP — language detection + per-language stopwords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19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Conclusion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One unified offline platform — built end-to-end in one semester.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11185855" cy="18288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11185855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Summary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1082009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DataLens AI integrates profiling, explainable ML, anomaly detection, time-series, drift, and conversational AI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Every analytical claim traces back to a named algorithm and a concrete numeric result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Offline-first by design  ·  privacy-friendly  ·  reproducible across runs (random_state=42)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4297680"/>
            <a:ext cx="11185855" cy="20116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297680"/>
            <a:ext cx="1118585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805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Final impact</a:t>
            </a:r>
            <a:endParaRPr sz="15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0A0A0A"/>
                </a:solidFill>
                <a:latin typeface="Inter"/>
              </a:rPr>
              <a:t>Transforms hours of manual data analysis into an automated, AI-driven workflow — without sending a single byte to the cloud.</a:t>
            </a:r>
            <a:endParaRPr sz="1500" b="0">
              <a:solidFill>
                <a:srgbClr val="0A0A0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589788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JetBrains Mono"/>
              </a:rPr>
              <a:t>./run.sh  ·  17-tab dashboard at :5173  ·  console at :8501</a:t>
            </a:r>
            <a:endParaRPr sz="11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20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  <a:endParaRPr sz="1000" b="1">
              <a:solidFill>
                <a:srgbClr val="0D8A72"/>
              </a:solidFill>
              <a:latin typeface="JetBrai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Inter"/>
              </a:rPr>
              <a:t>References</a:t>
            </a:r>
            <a:endParaRPr sz="30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Inter"/>
              </a:rPr>
              <a:t>Algorithmic foundations and tooling cited throughout.</a:t>
            </a:r>
            <a:endParaRPr sz="1300" b="0">
              <a:solidFill>
                <a:srgbClr val="555555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Lundberg &amp; Lee (2017). A Unified Approach to Interpreting Model Predictions. NeurIPS.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Breiman (2001). Random Forests. Machine Learning, 45(1).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Liu, Ting, Zhou (2008). Isolation Forest. ICDM.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Breunig et al. (2000). LOF: Identifying Density-Based Local Outliers. SIGMOD.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Cleveland et al. (1990). STL: A Seasonal-Trend Decomposition based on Loess.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Hyndman &amp; Athanasopoulos (2018). Forecasting: Principles and Practice (2nd ed.).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Dickey &amp; Fuller (1979). Distribution of the Estimators for AR Time Series with a Unit Root.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Kwiatkowski, Phillips, Schmidt, Shin (1992). KPSS test for stationarity.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Yurdakul (2018). Statistical Properties of Population Stability Index.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Pedregosa et al. (2011). Scikit-learn: Machine Learning in Python. JMLR.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Seabold &amp; Perktold (2010). statsmodels: Econometric and Statistical Modeling with Python.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Chen &amp; Guestrin (2016). XGBoost: A Scalable Tree Boosting System. KDD.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Ke et al. (2017). LightGBM: A Highly Efficient Gradient Boosting Decision Tree. NeurIPS.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Han et al. (2024). PyOD 2: A Python Library for Outlier Detection. arXiv:2412.12154.</a:t>
            </a:r>
            <a:endParaRPr sz="1200">
              <a:solidFill>
                <a:srgbClr val="333333"/>
              </a:solidFill>
              <a:latin typeface="Inter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Evidently AI Documentation  ·  PandasAI Documentation  ·  TableGPT / TableLLM papers.</a:t>
            </a:r>
            <a:endParaRPr sz="12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  <a:endParaRPr sz="900" b="0">
              <a:solidFill>
                <a:srgbClr val="555555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21 / 22</a:t>
            </a:r>
            <a:endParaRPr sz="900" b="1">
              <a:solidFill>
                <a:srgbClr val="333333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92424"/>
            <a:ext cx="12191695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0" b="1">
                <a:solidFill>
                  <a:srgbClr val="0A0A0A"/>
                </a:solidFill>
                <a:latin typeface="Inter"/>
              </a:rPr>
              <a:t>Thank You.</a:t>
            </a:r>
            <a:endParaRPr sz="7200" b="1">
              <a:solidFill>
                <a:srgbClr val="0A0A0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>
                <a:solidFill>
                  <a:srgbClr val="0D8A72"/>
                </a:solidFill>
                <a:latin typeface="Inter"/>
              </a:rPr>
              <a:t>Questions?</a:t>
            </a:r>
            <a:endParaRPr sz="2400" b="0">
              <a:solidFill>
                <a:srgbClr val="0D8A72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JetBrains Mono"/>
              </a:rPr>
              <a:t>DATALENS AI  ·  GROUP 13</a:t>
            </a:r>
            <a:endParaRPr sz="1400" b="1">
              <a:solidFill>
                <a:srgbClr val="333333"/>
              </a:solidFill>
              <a:latin typeface="JetBrains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JetBrains Mono"/>
              </a:rPr>
              <a:t>./run.sh  ·  17-tab dashboard at :5173  ·  console at :8501</a:t>
            </a:r>
            <a:endParaRPr sz="1100" b="0">
              <a:solidFill>
                <a:srgbClr val="555555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16071</Words>
  <Application>WPS Presentation</Application>
  <PresentationFormat>On-screen Show (4:3)</PresentationFormat>
  <Paragraphs>839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Arial</vt:lpstr>
      <vt:lpstr>SimSun</vt:lpstr>
      <vt:lpstr>Wingdings</vt:lpstr>
      <vt:lpstr>Arial</vt:lpstr>
      <vt:lpstr>JetBrains Mono</vt:lpstr>
      <vt:lpstr>Thonburi</vt:lpstr>
      <vt:lpstr>Inter</vt:lpstr>
      <vt:lpstr>Calibri</vt:lpstr>
      <vt:lpstr>Helvetica Neue</vt:lpstr>
      <vt:lpstr>Microsoft YaHei</vt:lpstr>
      <vt:lpstr>汉仪旗黑</vt:lpstr>
      <vt:lpstr>Arial Unicode MS</vt:lpstr>
      <vt:lpstr>宋体-简</vt:lpstr>
      <vt:lpstr>Geneva</vt:lpstr>
      <vt:lpstr>Inter</vt:lpstr>
      <vt:lpstr>JetBrains Mono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Parth Dongre</cp:lastModifiedBy>
  <cp:revision>2</cp:revision>
  <dcterms:created xsi:type="dcterms:W3CDTF">2026-05-26T05:58:58Z</dcterms:created>
  <dcterms:modified xsi:type="dcterms:W3CDTF">2026-05-26T05:58:58Z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304834213B458668A236156A50233461_42</vt:lpwstr>
  </property>
  <property fmtid="{D5CDD505-2E9C-101B-9397-08002B2CF9AE}" pid="3" name="KSOProductBuildVer">
    <vt:lpwstr>1033-12.1.23155.23155</vt:lpwstr>
  </property>
</Properties>
</file>