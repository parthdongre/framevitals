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F5BF7D-D3EC-42BD-AE46-E392DD59DDF1}">
  <a:tblStyle styleId="{E3F5BF7D-D3EC-42BD-AE46-E392DD59DD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9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7f47ca9e5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7f47ca9e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7f47ca9e5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838200" y="77450"/>
            <a:ext cx="7696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 rot="-5401349">
            <a:off x="-3213912" y="3275495"/>
            <a:ext cx="6858028" cy="307007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anchorCtr="0" anchor="t" bIns="68575" lIns="91425" spcFirstLastPara="1" rIns="91425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Vishwakarma  Institute  of  Technology</a:t>
            </a:r>
            <a:endParaRPr b="1"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"/>
            <a:ext cx="447675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Pictures\animations\1.gif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581025"/>
            <a:ext cx="8724900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  <a:defRPr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609600" y="667404"/>
            <a:ext cx="8353098" cy="5733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3124200" y="6553200"/>
            <a:ext cx="28956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6950148" y="6538422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533400" y="2590800"/>
            <a:ext cx="8153400" cy="1143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AI Dataset Analyser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2057400" y="4038600"/>
            <a:ext cx="6400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Guide: Prof. Kishor Pathak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r">
              <a:spcBef>
                <a:spcPts val="576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2514600" y="4648200"/>
            <a:ext cx="599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Names: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 Parth Birari , 54, IT D, 1251130415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2.Parth Dongre , 54, IT D,1251130421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 Aryan Patil, 55,IT D, 1251130411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Atharv Patil, 56, IT D, 1251130441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21/03/2026</a:t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81000"/>
            <a:ext cx="10668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828800" y="381000"/>
            <a:ext cx="6553200" cy="11430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Vishwakarma Institute of Technology , Pune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1676400"/>
            <a:ext cx="7543800" cy="4572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6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Information Technology 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Content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09600" y="762000"/>
            <a:ext cx="8153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 Review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Gaps Identified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2889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7525" lvl="0" marL="5175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81000" y="1142975"/>
            <a:ext cx="86853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The </a:t>
            </a:r>
            <a:r>
              <a:rPr b="1" lang="en-US" sz="1800">
                <a:solidFill>
                  <a:schemeClr val="dk1"/>
                </a:solidFill>
              </a:rPr>
              <a:t>Offline AI Data Scientist</a:t>
            </a:r>
            <a:r>
              <a:rPr lang="en-US" sz="1800">
                <a:solidFill>
                  <a:schemeClr val="dk1"/>
                </a:solidFill>
              </a:rPr>
              <a:t> is an intelligent system that analyzes datasets and generates insights automatically.</a:t>
            </a:r>
            <a:endParaRPr sz="18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 It performs data cleaning, statistical analysis, and visualization without requiring manual coding.</a:t>
            </a:r>
            <a:endParaRPr sz="18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 An LLM enables natural language explanations and “chat with your data” interaction.</a:t>
            </a:r>
            <a:endParaRPr sz="18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The system works completely offline, ensuring privacy and no dependency on APIs or internet.</a:t>
            </a:r>
            <a:endParaRPr sz="18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 It combines automation, explainability, and accessibility into a single data analysis pipeline.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Motivation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56951" y="1066600"/>
            <a:ext cx="8238900" cy="4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analysis requires coding or expensive tools.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Existing tools don’t cover the full pipeline.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Online AI tools raise privacy concerns.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Results are often not explainable.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Real-world data is messy, tools assume clean data.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single system handles everything offline.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Need a simple, private, all-in-one solution.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Literature Review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36" name="Google Shape;136;p18"/>
          <p:cNvGraphicFramePr/>
          <p:nvPr/>
        </p:nvGraphicFramePr>
        <p:xfrm>
          <a:off x="381000" y="58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{E3F5BF7D-D3EC-42BD-AE46-E392DD59DDF1}</a:tableStyleId>
              </a:tblPr>
              <a:tblGrid>
                <a:gridCol w="1322675"/>
                <a:gridCol w="1005000"/>
                <a:gridCol w="1506150"/>
                <a:gridCol w="1889525"/>
                <a:gridCol w="1519825"/>
                <a:gridCol w="1519825"/>
              </a:tblGrid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Title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Citation (Author et al. / Year)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Objectives claimed by authors in their paper 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Methodologies used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Outcomes (from result &amp; Discussion)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Identified (Generally from Conclusion &amp; Future scope)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6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InsightPilot: LLM-Guided Insight Exploration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P. Ma, R. Ding, S. Wang, S. Han, and D. Zhang, 2024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Traditional tools answer one query at a time. This paper enables multi-step exploratory data analysis using LLM planning.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LLM selects actions like understand, summarize, compare, and explain, forming a chained workflow.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Produces more complete and structured insights instead of isolated answers.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Limited evaluation scale; depends heavily on underlying insight engine.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6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TiInsight: Natural Language to SQL-Based EDA Pipeline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SzPts val="1100"/>
                        <a:buNone/>
                      </a:pPr>
                      <a:r>
                        <a:rPr lang="en-US" sz="1100"/>
                        <a:t>J.-P. Zhu, B. Niu, P. Cai, Z. Ni, K. Xu, J. Huang, S. Ma, B. Wang, X. Zhou, G. Bao, D. Zhang, L. Tang, and Q. Liu,2024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Convert natural language queries into SQL-based analysis and visualizations.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schema understanding, query clarification, SQL generation, and chart recommendation modules.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Handles vague queries well and performs strong database exploration.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Limited to structured databases; cannot handle raw or unstructured datasets.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6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LAMBDA: Agent-Based Code Generation for Data Analysis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M. Sun, R. Han, B. Jiang, H. Qian, D. Sun, Y. Yuan, and J. Huang, 2024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Improve reliability of automated data analysis through code generation and debugging.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Two-agent system: Programmer generates code, Inspector verifies and debugs it.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More reliable and customizable analysis workflows.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Higher computational cost and slower execution due to multi-agent setup.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Literature Review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44" name="Google Shape;144;p19"/>
          <p:cNvGraphicFramePr/>
          <p:nvPr/>
        </p:nvGraphicFramePr>
        <p:xfrm>
          <a:off x="381000" y="6397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{E3F5BF7D-D3EC-42BD-AE46-E392DD59DDF1}</a:tableStyleId>
              </a:tblPr>
              <a:tblGrid>
                <a:gridCol w="1163825"/>
                <a:gridCol w="1163825"/>
                <a:gridCol w="1506150"/>
                <a:gridCol w="1889525"/>
                <a:gridCol w="1519825"/>
                <a:gridCol w="1519825"/>
              </a:tblGrid>
              <a:tr h="158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Title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Citation (Author et al. / Year)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Objectives claimed by authors in their paper 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Methodologies used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Outcomes (from result &amp; Discussion)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Identified (Generally from Conclusion &amp; Future scope)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/>
                </a:tc>
              </a:tr>
              <a:tr h="246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Talk2Data: Multimodal Conversational Data Analytics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Y. Guo, D. Shi, M. Guo, Y. Wu, N. Cao, and Q. Chen, 2024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Enable data analysis using natural conversation (text + voice).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Routing system decides between chat response and code execution in a secure environment.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Improves usability and accessibility for non-technical users.</a:t>
                      </a:r>
                      <a:endParaRPr sz="13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Tested mainly on clean datasets; lacks robustness for real-world messy data.</a:t>
                      </a:r>
                      <a:endParaRPr sz="13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Researc</a:t>
            </a:r>
            <a:r>
              <a:rPr lang="en-US"/>
              <a:t>h Gaps Identified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2" name="Google Shape;152;p20" title="Screenshot 2026-03-23 at 11.07.55 PM.png"/>
          <p:cNvPicPr preferRelativeResize="0"/>
          <p:nvPr/>
        </p:nvPicPr>
        <p:blipFill rotWithShape="1">
          <a:blip r:embed="rId3">
            <a:alphaModFix/>
          </a:blip>
          <a:srcRect b="-3061" l="0" r="0" t="0"/>
          <a:stretch/>
        </p:blipFill>
        <p:spPr>
          <a:xfrm>
            <a:off x="831587" y="877200"/>
            <a:ext cx="7480825" cy="54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Objectives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0" name="Google Shape;160;p21" title="Screenshot 2026-03-23 at 11.1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375" y="745425"/>
            <a:ext cx="7497325" cy="59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1647670" y="2"/>
            <a:ext cx="5791200" cy="63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Project Status</a:t>
            </a:r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609600" y="667404"/>
            <a:ext cx="8353200" cy="573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6950148" y="6538422"/>
            <a:ext cx="2133600" cy="2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/>
          </a:p>
        </p:txBody>
      </p:sp>
      <p:pic>
        <p:nvPicPr>
          <p:cNvPr id="169" name="Google Shape;169;p22" title="Screenshot 2026-05-12 at 11.59.1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667400"/>
            <a:ext cx="7200900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533400" y="639765"/>
            <a:ext cx="8458200" cy="57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single system today that performs complete data analysis — from cleaning to insights — in a simple, automated, and offline manner.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Elaboration:</a:t>
            </a:r>
            <a:br>
              <a:rPr b="1" lang="en-US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 Most existing tools require coding knowledge or depend on multiple separate steps, making the process complex and time-consuming. Online AI-based solutions rely on APIs, raising privacy concerns for sensitive data. Many systems also assume clean and structured datasets, while real-world data is often messy and inconsistent. Additionally, current tools provide results but lack clear explanations, reducing trust and usability.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As a result, there is a need for a unified system that can automatically analyze datasets, generate insights, explain results, and operate fully offline while handling real-world data effectively.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7391400" y="6477000"/>
            <a:ext cx="160020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1543050" y="337185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1647670" y="2"/>
            <a:ext cx="57912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References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381000" y="838200"/>
            <a:ext cx="83058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[1] P. Ma, R. Ding, S. Wang, S. Han, and D. Zhang, “Demonstration of InsightPilot: An LLM-Empowered Automated Data Exploration System,” </a:t>
            </a:r>
            <a:r>
              <a:rPr i="1" lang="en-US" sz="1500">
                <a:solidFill>
                  <a:schemeClr val="dk1"/>
                </a:solidFill>
              </a:rPr>
              <a:t>arXiv preprint</a:t>
            </a:r>
            <a:r>
              <a:rPr lang="en-US" sz="1500">
                <a:solidFill>
                  <a:schemeClr val="dk1"/>
                </a:solidFill>
              </a:rPr>
              <a:t> arXiv:2304.00477, 2023.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[2] J.-P. Zhu, B. Niu, P. Cai, Z. Ni, J. Wan, K. Xu, J. Huang, S. Ma, B. Wang, X. Zhou, G. Bao, D. Zhang, L. Tang, and Q. Liu, “Towards Automated Cross-domain Exploratory Data Analysis through Large Language Models,” </a:t>
            </a:r>
            <a:r>
              <a:rPr i="1" lang="en-US" sz="1500">
                <a:solidFill>
                  <a:schemeClr val="dk1"/>
                </a:solidFill>
              </a:rPr>
              <a:t>Proceedings of the VLDB Endowment</a:t>
            </a:r>
            <a:r>
              <a:rPr lang="en-US" sz="1500">
                <a:solidFill>
                  <a:schemeClr val="dk1"/>
                </a:solidFill>
              </a:rPr>
              <a:t>, vol. 18, no. 12, pp. 5086–5099, 2025. doi:10.14778/3750601.3750629.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[3] M. Sun, R. Han, B. Jiang, H. Qi, D. Sun, Y. Yuan, and J. Huang, “LAMBDA: A Large Model Based Data Agent,” </a:t>
            </a:r>
            <a:r>
              <a:rPr i="1" lang="en-US" sz="1500">
                <a:solidFill>
                  <a:schemeClr val="dk1"/>
                </a:solidFill>
              </a:rPr>
              <a:t>arXiv preprint</a:t>
            </a:r>
            <a:r>
              <a:rPr lang="en-US" sz="1500">
                <a:solidFill>
                  <a:schemeClr val="dk1"/>
                </a:solidFill>
              </a:rPr>
              <a:t> arXiv:2407.17535, 2024.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500">
                <a:solidFill>
                  <a:schemeClr val="dk1"/>
                </a:solidFill>
              </a:rPr>
              <a:t>[4] M. N. Al Awad, S. Ivanov, O. Tikhonova, and I. Khodnenko, “A Multimodal Conversational Agent for Tabular Data Analysis,” in </a:t>
            </a:r>
            <a:r>
              <a:rPr i="1" lang="en-US" sz="1500">
                <a:solidFill>
                  <a:schemeClr val="dk1"/>
                </a:solidFill>
              </a:rPr>
              <a:t>IEEE International Conference on Data Mining Workshops (ICDMW), BigIS Workshop</a:t>
            </a:r>
            <a:r>
              <a:rPr lang="en-US" sz="1500">
                <a:solidFill>
                  <a:schemeClr val="dk1"/>
                </a:solidFill>
              </a:rPr>
              <a:t>, 2025. I could verify the title, authors, and workshop association, but not a final DOI from the sources I checked.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2918984" y="2967335"/>
            <a:ext cx="33060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 b="1" sz="5400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