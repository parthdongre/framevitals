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1525" r:id="rId2"/>
    <p:sldId id="1523" r:id="rId3"/>
    <p:sldId id="1531" r:id="rId4"/>
    <p:sldId id="1532" r:id="rId5"/>
    <p:sldId id="1533" r:id="rId6"/>
    <p:sldId id="1534" r:id="rId7"/>
    <p:sldId id="1544" r:id="rId8"/>
    <p:sldId id="1545" r:id="rId9"/>
    <p:sldId id="1535" r:id="rId10"/>
    <p:sldId id="1536" r:id="rId11"/>
    <p:sldId id="1537" r:id="rId12"/>
    <p:sldId id="1538" r:id="rId13"/>
    <p:sldId id="1539" r:id="rId14"/>
    <p:sldId id="1540" r:id="rId15"/>
    <p:sldId id="1542" r:id="rId16"/>
    <p:sldId id="1543" r:id="rId17"/>
    <p:sldId id="1546" r:id="rId18"/>
    <p:sldId id="153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94624" autoAdjust="0"/>
  </p:normalViewPr>
  <p:slideViewPr>
    <p:cSldViewPr>
      <p:cViewPr varScale="1">
        <p:scale>
          <a:sx n="78" d="100"/>
          <a:sy n="78" d="100"/>
        </p:scale>
        <p:origin x="156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44751-DEF6-40E3-8526-EC9A0AE72A1D}" type="datetimeFigureOut">
              <a:rPr lang="en-US" smtClean="0"/>
              <a:pPr/>
              <a:t>10-Mar-26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5A771-5004-49EB-8943-BD9AC1DA33B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838200" y="77450"/>
            <a:ext cx="7696200" cy="4572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" name="Text Box 14"/>
          <p:cNvSpPr txBox="1">
            <a:spLocks noChangeArrowheads="1"/>
          </p:cNvSpPr>
          <p:nvPr userDrawn="1"/>
        </p:nvSpPr>
        <p:spPr bwMode="auto">
          <a:xfrm rot="16198651">
            <a:off x="-3213912" y="3275495"/>
            <a:ext cx="6858028" cy="307007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  <a:bevelB/>
          </a:sp3d>
        </p:spPr>
        <p:txBody>
          <a:bodyPr tIns="6858" bIns="68580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en-US" sz="1500" b="1" dirty="0" err="1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Vishwakarma</a:t>
            </a:r>
            <a:r>
              <a:rPr lang="en-US" sz="1500" b="1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Institute  of  Technology</a:t>
            </a:r>
          </a:p>
        </p:txBody>
      </p:sp>
      <p:pic>
        <p:nvPicPr>
          <p:cNvPr id="6" name="Picture 4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2"/>
            <a:ext cx="447675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2" descr="C:\Users\HP\Pictures\animations\1.gif"/>
          <p:cNvPicPr>
            <a:picLocks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575" y="581025"/>
            <a:ext cx="8724900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1647670" y="2"/>
            <a:ext cx="57912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5"/>
          </p:nvPr>
        </p:nvSpPr>
        <p:spPr bwMode="auto">
          <a:xfrm>
            <a:off x="609600" y="667404"/>
            <a:ext cx="8353098" cy="5733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lnSpc>
                <a:spcPct val="150000"/>
              </a:lnSpc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260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Applied Electronics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50148" y="6538422"/>
            <a:ext cx="2133600" cy="260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46FD1-0723-4B2F-9706-10282F2BA698}" type="slidenum">
              <a:rPr lang="en-US"/>
              <a:pPr>
                <a:defRPr/>
              </a:pPr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819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Applied Electronics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6D84A7-6477-406F-8B6C-54AB87049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590800"/>
            <a:ext cx="8153400" cy="11430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IN" dirty="0" err="1"/>
              <a:t>PromptPixel</a:t>
            </a:r>
            <a:r>
              <a:rPr lang="en-IN" dirty="0"/>
              <a:t>-Automatic Prompt Optimization and Image Generation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3D7FEC2-9237-4DA4-BB56-9ACECE121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038600"/>
            <a:ext cx="6400800" cy="533400"/>
          </a:xfrm>
        </p:spPr>
        <p:txBody>
          <a:bodyPr>
            <a:normAutofit lnSpcReduction="10000"/>
          </a:bodyPr>
          <a:lstStyle/>
          <a:p>
            <a:pPr algn="r"/>
            <a:r>
              <a:rPr lang="en-IN" dirty="0">
                <a:solidFill>
                  <a:srgbClr val="FF0000"/>
                </a:solidFill>
              </a:rPr>
              <a:t>Guide :Prof. </a:t>
            </a:r>
            <a:r>
              <a:rPr lang="en-IN" b="1" dirty="0">
                <a:solidFill>
                  <a:srgbClr val="FF0000"/>
                </a:solidFill>
              </a:rPr>
              <a:t>Kishor Pathak</a:t>
            </a:r>
          </a:p>
          <a:p>
            <a:pPr algn="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CABF3-0CD9-4EEC-BAD0-86EB5142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246FD1-0723-4B2F-9706-10282F2BA698}" type="slidenum">
              <a:rPr lang="en-US" smtClean="0"/>
              <a:pPr>
                <a:defRPr/>
              </a:pPr>
              <a:t>1</a:t>
            </a:fld>
            <a:r>
              <a:rPr lang="en-US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648200"/>
            <a:ext cx="5715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Students Names :</a:t>
            </a:r>
          </a:p>
          <a:p>
            <a:r>
              <a:rPr lang="en-IN" dirty="0"/>
              <a:t>	1. </a:t>
            </a:r>
            <a:r>
              <a:rPr lang="en-IN" dirty="0" err="1"/>
              <a:t>Vishwatej</a:t>
            </a:r>
            <a:r>
              <a:rPr lang="en-IN" dirty="0"/>
              <a:t> Shende, 29, TY IT C , 12311483</a:t>
            </a:r>
          </a:p>
          <a:p>
            <a:r>
              <a:rPr lang="en-IN" dirty="0"/>
              <a:t>	2. Rishi </a:t>
            </a:r>
            <a:r>
              <a:rPr lang="en-IN" dirty="0" err="1"/>
              <a:t>Shendre</a:t>
            </a:r>
            <a:r>
              <a:rPr lang="en-IN" dirty="0"/>
              <a:t>, 30, TY IT C</a:t>
            </a:r>
            <a:r>
              <a:rPr lang="en-IN"/>
              <a:t>, 12310890</a:t>
            </a:r>
            <a:endParaRPr lang="en-IN" dirty="0"/>
          </a:p>
          <a:p>
            <a:r>
              <a:rPr lang="en-IN" dirty="0"/>
              <a:t>	3. Anish Shete, 31, TY IT C, 12311245</a:t>
            </a:r>
          </a:p>
          <a:p>
            <a:r>
              <a:rPr lang="en-IN" dirty="0"/>
              <a:t>	4. Arya Shinde, 32, TY IT C, 12311643</a:t>
            </a:r>
          </a:p>
          <a:p>
            <a:r>
              <a:rPr lang="en-IN" dirty="0"/>
              <a:t>                  5. Rutuja Solanke, 42, TY IT C, 12310185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11/03/2026</a:t>
            </a:r>
          </a:p>
        </p:txBody>
      </p:sp>
      <p:pic>
        <p:nvPicPr>
          <p:cNvPr id="10" name="image1.png"/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533400" y="381000"/>
            <a:ext cx="1066800" cy="1143000"/>
          </a:xfrm>
          <a:prstGeom prst="rect">
            <a:avLst/>
          </a:prstGeom>
          <a:noFill/>
        </p:spPr>
      </p:pic>
      <p:sp>
        <p:nvSpPr>
          <p:cNvPr id="11" name="Title 5">
            <a:extLst>
              <a:ext uri="{FF2B5EF4-FFF2-40B4-BE49-F238E27FC236}">
                <a16:creationId xmlns:a16="http://schemas.microsoft.com/office/drawing/2014/main" id="{056D84A7-6477-406F-8B6C-54AB870494E1}"/>
              </a:ext>
            </a:extLst>
          </p:cNvPr>
          <p:cNvSpPr txBox="1">
            <a:spLocks/>
          </p:cNvSpPr>
          <p:nvPr/>
        </p:nvSpPr>
        <p:spPr>
          <a:xfrm>
            <a:off x="1828800" y="381000"/>
            <a:ext cx="6553200" cy="114300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lvl="0" algn="ctr">
              <a:spcBef>
                <a:spcPct val="0"/>
              </a:spcBef>
            </a:pPr>
            <a:r>
              <a:rPr lang="en-IN" sz="4400" b="1" dirty="0">
                <a:solidFill>
                  <a:schemeClr val="tx1"/>
                </a:solidFill>
              </a:rPr>
              <a:t>Vishwakarma Institute of Technology , Pune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056D84A7-6477-406F-8B6C-54AB870494E1}"/>
              </a:ext>
            </a:extLst>
          </p:cNvPr>
          <p:cNvSpPr txBox="1">
            <a:spLocks/>
          </p:cNvSpPr>
          <p:nvPr/>
        </p:nvSpPr>
        <p:spPr>
          <a:xfrm>
            <a:off x="838200" y="1676400"/>
            <a:ext cx="7543800" cy="45720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60000" lnSpcReduction="20000"/>
          </a:bodyPr>
          <a:lstStyle/>
          <a:p>
            <a:pPr lvl="0" algn="ctr">
              <a:spcBef>
                <a:spcPct val="0"/>
              </a:spcBef>
            </a:pPr>
            <a:r>
              <a:rPr lang="en-IN" sz="4400" b="1" dirty="0">
                <a:solidFill>
                  <a:schemeClr val="tx1"/>
                </a:solidFill>
              </a:rPr>
              <a:t>Department of Information Technology 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86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2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Verdana" panose="020B0604030504040204" pitchFamily="34" charset="0"/>
                <a:ea typeface="Verdana" panose="020B0604030504040204" pitchFamily="34" charset="0"/>
              </a:rPr>
              <a:t>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74E32-7A29-496C-AAED-9D3511E24D63}"/>
              </a:ext>
            </a:extLst>
          </p:cNvPr>
          <p:cNvSpPr txBox="1"/>
          <p:nvPr/>
        </p:nvSpPr>
        <p:spPr>
          <a:xfrm>
            <a:off x="609600" y="762000"/>
            <a:ext cx="8153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Motivation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Literature Review 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Research Gaps Identified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Objectives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Problem Statement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Proposed Methodology or System Design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Tools/Technologies Used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Project Flow Diagram 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Results and Discussion 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Conclusion</a:t>
            </a:r>
          </a:p>
          <a:p>
            <a:pPr marL="288925" indent="-288925">
              <a:buFont typeface="Arial" pitchFamily="34" charset="0"/>
              <a:buChar char="•"/>
            </a:pPr>
            <a:r>
              <a:rPr lang="en-US" sz="2400" dirty="0"/>
              <a:t>References: </a:t>
            </a:r>
          </a:p>
          <a:p>
            <a:pPr marL="517525" indent="-517525"/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3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EB6BF-435C-4050-8916-C2A3F402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Introduction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 descr="What is Prompt Engineering?">
            <a:extLst>
              <a:ext uri="{FF2B5EF4-FFF2-40B4-BE49-F238E27FC236}">
                <a16:creationId xmlns:a16="http://schemas.microsoft.com/office/drawing/2014/main" id="{E4E51E8E-0F85-4EBA-3745-15577D279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3810000"/>
            <a:ext cx="3981450" cy="318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24972F-8D53-5117-02D9-8D8A5B519691}"/>
              </a:ext>
            </a:extLst>
          </p:cNvPr>
          <p:cNvSpPr txBox="1"/>
          <p:nvPr/>
        </p:nvSpPr>
        <p:spPr>
          <a:xfrm>
            <a:off x="304800" y="669262"/>
            <a:ext cx="8839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PromptPixel</a:t>
            </a:r>
            <a:r>
              <a:rPr lang="en-US" dirty="0">
                <a:effectLst/>
              </a:rPr>
              <a:t> – Automatic Prompt Optimization &amp; Image Generation is an intelligent Generative AI platform designed to bridge the gap between user intent and high-quality AI-generated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 Traditional AI image generators require detailed, technically structured prompts, which most users struggle to write.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PromptPixel</a:t>
            </a:r>
            <a:r>
              <a:rPr lang="en-US" dirty="0">
                <a:effectLst/>
              </a:rPr>
              <a:t> solves this problem by automatically transforming simple, conversational descriptions into optimized, professional-grade prompts using advanced language models like GPT-4.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Unlike black-box systems, it provides transparency by showing both original and enhanced prompts, allowing users to edit, learn, and improve their prompt-writing skills.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platform combines automation, transparency, and education into a single seamless creative workflow.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3575-ECDB-C1CA-60CF-73F176CF4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1ED9-B1BE-5D98-A95F-100896C4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4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1E6BF594-5DDB-17E9-7B01-2CFFF89DE774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2CC739-6B38-22CA-3167-707AD2E5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Motivation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102F5-19B2-AF95-EE6F-189689705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25" y="685800"/>
            <a:ext cx="8240275" cy="36581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509247-063A-AAFC-F7CC-FB64F57DD4D2}"/>
              </a:ext>
            </a:extLst>
          </p:cNvPr>
          <p:cNvSpPr txBox="1"/>
          <p:nvPr/>
        </p:nvSpPr>
        <p:spPr>
          <a:xfrm>
            <a:off x="317897" y="4137459"/>
            <a:ext cx="89547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Most AI image generators require complex, technical prompts that beginners struggle to write.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Small changes in wording can drastically affect image quality and results.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Existing tools enhance prompts automatically but do not show how or why improvements are made.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Users cannot learn prompt engineering due to lack of transparency.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Iterating on bad results is frustrating and time-consuming.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There is a need for a simple, transparent system that turns ideas into high-quality visuals effortlessly.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1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AB12-C2CD-EF8E-6E9F-C12A0587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75013-46EF-1952-4130-60FBF6E2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5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F9F161F-8E8E-A45B-C772-664940872E46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629F5A-206D-38D5-6FE2-D6BBCCB89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 Review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870DDF-C9AE-C2AE-DE22-F1A819E83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736387"/>
              </p:ext>
            </p:extLst>
          </p:nvPr>
        </p:nvGraphicFramePr>
        <p:xfrm>
          <a:off x="381000" y="639764"/>
          <a:ext cx="8763002" cy="6218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929645165"/>
                    </a:ext>
                  </a:extLst>
                </a:gridCol>
                <a:gridCol w="803674">
                  <a:extLst>
                    <a:ext uri="{9D8B030D-6E8A-4147-A177-3AD203B41FA5}">
                      <a16:colId xmlns:a16="http://schemas.microsoft.com/office/drawing/2014/main" val="1147956183"/>
                    </a:ext>
                  </a:extLst>
                </a:gridCol>
                <a:gridCol w="1506142">
                  <a:extLst>
                    <a:ext uri="{9D8B030D-6E8A-4147-A177-3AD203B41FA5}">
                      <a16:colId xmlns:a16="http://schemas.microsoft.com/office/drawing/2014/main" val="3916060908"/>
                    </a:ext>
                  </a:extLst>
                </a:gridCol>
                <a:gridCol w="1889520">
                  <a:extLst>
                    <a:ext uri="{9D8B030D-6E8A-4147-A177-3AD203B41FA5}">
                      <a16:colId xmlns:a16="http://schemas.microsoft.com/office/drawing/2014/main" val="2228671762"/>
                    </a:ext>
                  </a:extLst>
                </a:gridCol>
                <a:gridCol w="1519833">
                  <a:extLst>
                    <a:ext uri="{9D8B030D-6E8A-4147-A177-3AD203B41FA5}">
                      <a16:colId xmlns:a16="http://schemas.microsoft.com/office/drawing/2014/main" val="830534633"/>
                    </a:ext>
                  </a:extLst>
                </a:gridCol>
                <a:gridCol w="1519833">
                  <a:extLst>
                    <a:ext uri="{9D8B030D-6E8A-4147-A177-3AD203B41FA5}">
                      <a16:colId xmlns:a16="http://schemas.microsoft.com/office/drawing/2014/main" val="2245785219"/>
                    </a:ext>
                  </a:extLst>
                </a:gridCol>
              </a:tblGrid>
              <a:tr h="1384881">
                <a:tc>
                  <a:txBody>
                    <a:bodyPr/>
                    <a:lstStyle/>
                    <a:p>
                      <a:r>
                        <a:rPr lang="en-US" sz="1300" dirty="0"/>
                        <a:t>Title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Citation (Author et al. / Year)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Objectives claimed by authors in their paper 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Methodologies used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Outcomes (from result &amp; Discussion)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Gap Identified (Generally from Conclusion &amp; Future scope)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558255"/>
                  </a:ext>
                </a:extLst>
              </a:tr>
              <a:tr h="1767262">
                <a:tc>
                  <a:txBody>
                    <a:bodyPr/>
                    <a:lstStyle/>
                    <a:p>
                      <a:r>
                        <a:rPr lang="en-US" sz="1300" dirty="0"/>
                        <a:t>IPGO: Indirect Prompt Gradient Optimization for Parameter-Efficient Prompt Level Fine-Tuning on Text-to-Image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 et al. (2025) – </a:t>
                      </a:r>
                      <a:r>
                        <a:rPr lang="en-US" sz="13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IPGO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prompt embeddings for text-to-image models to better align with aesthetics and human preferences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Introduced </a:t>
                      </a:r>
                      <a:r>
                        <a:rPr lang="en-US" sz="13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Indirect Prompt Gradient Optimization</a:t>
                      </a:r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(IPGO): low-rank prompt tokens with gradient-based updates; evaluated with multiple reward models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IPGO outperforms baseline prompt techniques (training-free &amp; training-based) in aesthetic, alignment, and preference scores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Needs further exploration of computational trade-offs &amp; broader model generalization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487419"/>
                  </a:ext>
                </a:extLst>
              </a:tr>
              <a:tr h="1533046">
                <a:tc>
                  <a:txBody>
                    <a:bodyPr/>
                    <a:lstStyle/>
                    <a:p>
                      <a:r>
                        <a:rPr lang="en-US" sz="1300" dirty="0"/>
                        <a:t>TIPO: Text to image with Text </a:t>
                      </a:r>
                      <a:r>
                        <a:rPr lang="en-US" sz="1300" dirty="0" err="1"/>
                        <a:t>Presampling</a:t>
                      </a:r>
                      <a:r>
                        <a:rPr lang="en-US" sz="1300" dirty="0"/>
                        <a:t> for prompt optimization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Yeh et al. (2024) – </a:t>
                      </a:r>
                      <a:r>
                        <a:rPr lang="en-US" sz="13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TIPO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Enhance text-to-image generation by optimizing prompts automatically without heavy runtime cost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3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 </a:t>
                      </a:r>
                      <a:r>
                        <a:rPr lang="en-US" sz="13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Presampling</a:t>
                      </a:r>
                      <a:r>
                        <a:rPr lang="en-US" sz="13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for Prompt Optimization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(TIPO): refine user prompts using trained prompt distributions instead of LLMs/RL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Improved aesthetic and alignment with target dataset; reduces corrupted or misaligned outputs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Exploration needed on scalability and cross-dataset generalization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103463"/>
                  </a:ext>
                </a:extLst>
              </a:tr>
              <a:tr h="1533046">
                <a:tc>
                  <a:txBody>
                    <a:bodyPr/>
                    <a:lstStyle/>
                    <a:p>
                      <a:r>
                        <a:rPr lang="en-US" sz="1300" dirty="0"/>
                        <a:t>Improving text to image generation with input side inference time Scaling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Chen et al. (2025) – </a:t>
                      </a:r>
                      <a:r>
                        <a:rPr lang="fr-FR" sz="13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 Rewriter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Refine user prompts using LLM-based prompt rewriting to improve image generation quality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Iterative prompt rewriting with reward system and </a:t>
                      </a:r>
                      <a:r>
                        <a:rPr lang="en-US" sz="13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 Preference Optimization</a:t>
                      </a:r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(DPO)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Consistent quality improvement in alignment and aesthetics across T2I models; strong transferability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Further work on optimizing reward design and scaling with larger LLMs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577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49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B36E3-12CA-B54F-92C0-5671784A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22544-CC9E-415E-0E98-D6CE9C9F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6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067CAD56-BC35-6C13-6D0E-040CCBD9308B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086CC7-87AF-023D-5E9E-5B5ECF3D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 Review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FA3327-59BF-9D13-F6D4-D116A984A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675478"/>
              </p:ext>
            </p:extLst>
          </p:nvPr>
        </p:nvGraphicFramePr>
        <p:xfrm>
          <a:off x="381000" y="639764"/>
          <a:ext cx="8763002" cy="621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837">
                  <a:extLst>
                    <a:ext uri="{9D8B030D-6E8A-4147-A177-3AD203B41FA5}">
                      <a16:colId xmlns:a16="http://schemas.microsoft.com/office/drawing/2014/main" val="2886076363"/>
                    </a:ext>
                  </a:extLst>
                </a:gridCol>
                <a:gridCol w="1163837">
                  <a:extLst>
                    <a:ext uri="{9D8B030D-6E8A-4147-A177-3AD203B41FA5}">
                      <a16:colId xmlns:a16="http://schemas.microsoft.com/office/drawing/2014/main" val="1147956183"/>
                    </a:ext>
                  </a:extLst>
                </a:gridCol>
                <a:gridCol w="1506141">
                  <a:extLst>
                    <a:ext uri="{9D8B030D-6E8A-4147-A177-3AD203B41FA5}">
                      <a16:colId xmlns:a16="http://schemas.microsoft.com/office/drawing/2014/main" val="3916060908"/>
                    </a:ext>
                  </a:extLst>
                </a:gridCol>
                <a:gridCol w="1889521">
                  <a:extLst>
                    <a:ext uri="{9D8B030D-6E8A-4147-A177-3AD203B41FA5}">
                      <a16:colId xmlns:a16="http://schemas.microsoft.com/office/drawing/2014/main" val="2228671762"/>
                    </a:ext>
                  </a:extLst>
                </a:gridCol>
                <a:gridCol w="1519833">
                  <a:extLst>
                    <a:ext uri="{9D8B030D-6E8A-4147-A177-3AD203B41FA5}">
                      <a16:colId xmlns:a16="http://schemas.microsoft.com/office/drawing/2014/main" val="830534633"/>
                    </a:ext>
                  </a:extLst>
                </a:gridCol>
                <a:gridCol w="1519833">
                  <a:extLst>
                    <a:ext uri="{9D8B030D-6E8A-4147-A177-3AD203B41FA5}">
                      <a16:colId xmlns:a16="http://schemas.microsoft.com/office/drawing/2014/main" val="2245785219"/>
                    </a:ext>
                  </a:extLst>
                </a:gridCol>
              </a:tblGrid>
              <a:tr h="1588111">
                <a:tc>
                  <a:txBody>
                    <a:bodyPr/>
                    <a:lstStyle/>
                    <a:p>
                      <a:r>
                        <a:rPr lang="en-US" sz="1300" dirty="0"/>
                        <a:t>Title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Citation (Author et al. / Year)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Objectives claimed by authors in their paper 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Methodologies used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Outcomes (from result &amp; Discussion)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Gap Identified (Generally from Conclusion &amp; Future scope)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558255"/>
                  </a:ext>
                </a:extLst>
              </a:tr>
              <a:tr h="2460452">
                <a:tc>
                  <a:txBody>
                    <a:bodyPr/>
                    <a:lstStyle/>
                    <a:p>
                      <a:r>
                        <a:rPr lang="en-US" sz="1300" dirty="0"/>
                        <a:t>A Survey of Automatic Prompt Engineering: An Optimization Perspective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 et al. (2025) – </a:t>
                      </a:r>
                      <a:r>
                        <a:rPr lang="en-US" sz="13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Survey: Automatic Prompt Engineering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Categorize automated prompt optimization techniques across modalities from an optimization perspective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Systematic analysis across evolutionary, gradient, RL, and hybrid methods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Unified view of prompt optimization as an optimization problem; highlights benefit across text and multimodal tasks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Underexplored areas: constrained optimization &amp; agent-oriented prompt design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487419"/>
                  </a:ext>
                </a:extLst>
              </a:tr>
              <a:tr h="2169671">
                <a:tc>
                  <a:txBody>
                    <a:bodyPr/>
                    <a:lstStyle/>
                    <a:p>
                      <a:r>
                        <a:rPr lang="en-US" sz="1300" dirty="0"/>
                        <a:t>A Systematic Survey of Automatic Prompt Optimization Techniques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Ramnath et al. (2025) – </a:t>
                      </a:r>
                      <a:r>
                        <a:rPr lang="en-US" sz="13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Systematic Survey of APO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Survey Automatic Prompt Optimization (APO) techniques broadly for LLMs and prompt improvement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-part framework; comparisons of RL, genetic, and neural approaches; structured taxonomy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3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dentifies</a:t>
                      </a:r>
                      <a: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trends &amp; limitations in current APO; calls attention to extension to multimodal systems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gaps: multimodal APO (e.g., text-&gt;image/audio), task-agnostic efficacy, scalability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103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48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EA41A-52DD-AB07-A158-C75CB82C4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D6605-3FBB-BFBB-D4D3-4A038CD8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7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0F1BE1E-EEC3-A495-C917-DE676BAAD0FF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5CFDA0-C1BD-C8A2-3E2F-0D697901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 Review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AD1224-DE67-2A89-89D4-42E9C3BD9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695798"/>
              </p:ext>
            </p:extLst>
          </p:nvPr>
        </p:nvGraphicFramePr>
        <p:xfrm>
          <a:off x="304800" y="639764"/>
          <a:ext cx="8839200" cy="621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038">
                  <a:extLst>
                    <a:ext uri="{9D8B030D-6E8A-4147-A177-3AD203B41FA5}">
                      <a16:colId xmlns:a16="http://schemas.microsoft.com/office/drawing/2014/main" val="3741203841"/>
                    </a:ext>
                  </a:extLst>
                </a:gridCol>
                <a:gridCol w="839241">
                  <a:extLst>
                    <a:ext uri="{9D8B030D-6E8A-4147-A177-3AD203B41FA5}">
                      <a16:colId xmlns:a16="http://schemas.microsoft.com/office/drawing/2014/main" val="1147956183"/>
                    </a:ext>
                  </a:extLst>
                </a:gridCol>
                <a:gridCol w="1522137">
                  <a:extLst>
                    <a:ext uri="{9D8B030D-6E8A-4147-A177-3AD203B41FA5}">
                      <a16:colId xmlns:a16="http://schemas.microsoft.com/office/drawing/2014/main" val="3916060908"/>
                    </a:ext>
                  </a:extLst>
                </a:gridCol>
                <a:gridCol w="1990184">
                  <a:extLst>
                    <a:ext uri="{9D8B030D-6E8A-4147-A177-3AD203B41FA5}">
                      <a16:colId xmlns:a16="http://schemas.microsoft.com/office/drawing/2014/main" val="2228671762"/>
                    </a:ext>
                  </a:extLst>
                </a:gridCol>
                <a:gridCol w="1600800">
                  <a:extLst>
                    <a:ext uri="{9D8B030D-6E8A-4147-A177-3AD203B41FA5}">
                      <a16:colId xmlns:a16="http://schemas.microsoft.com/office/drawing/2014/main" val="830534633"/>
                    </a:ext>
                  </a:extLst>
                </a:gridCol>
                <a:gridCol w="1600800">
                  <a:extLst>
                    <a:ext uri="{9D8B030D-6E8A-4147-A177-3AD203B41FA5}">
                      <a16:colId xmlns:a16="http://schemas.microsoft.com/office/drawing/2014/main" val="2245785219"/>
                    </a:ext>
                  </a:extLst>
                </a:gridCol>
              </a:tblGrid>
              <a:tr h="1129597">
                <a:tc>
                  <a:txBody>
                    <a:bodyPr/>
                    <a:lstStyle/>
                    <a:p>
                      <a:r>
                        <a:rPr lang="en-US" sz="1100" dirty="0"/>
                        <a:t>Title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Citation (Author et al. / Year)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Objectives claimed by authors in their paper </a:t>
                      </a:r>
                      <a:endParaRPr lang="en-IN" sz="11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Methodologies used</a:t>
                      </a:r>
                      <a:endParaRPr lang="en-IN" sz="11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Outcomes (from result &amp; Discussion)</a:t>
                      </a:r>
                      <a:endParaRPr lang="en-IN" sz="11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Gap Identified (Generally from Conclusion &amp; Future scope)</a:t>
                      </a:r>
                      <a:endParaRPr lang="en-IN" sz="11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558255"/>
                  </a:ext>
                </a:extLst>
              </a:tr>
              <a:tr h="1823573">
                <a:tc>
                  <a:txBody>
                    <a:bodyPr/>
                    <a:lstStyle/>
                    <a:p>
                      <a:r>
                        <a:rPr lang="en-US" sz="1100" dirty="0" err="1"/>
                        <a:t>RePrompt</a:t>
                      </a:r>
                      <a:r>
                        <a:rPr lang="en-US" sz="1100" dirty="0"/>
                        <a:t>: Automatic Prompt Editing to Refine AI Generative Art Towards Precise Expressions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Wang et al. /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Improve emotional expressiveness of AI-generated images by automatically refining text prompts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Curated text features (noun count, concreteness); trained proxy model; used model explanations to build a rubric for prompt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</a:t>
                      </a:r>
                      <a:r>
                        <a:rPr lang="en-US" sz="1100" dirty="0" err="1"/>
                        <a:t>RePrompt</a:t>
                      </a:r>
                      <a:r>
                        <a:rPr lang="en-US" sz="1100" dirty="0"/>
                        <a:t> significantly improved emotional expressiveness of generated images, especially for negative emotions (simulation + user study validated)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Handling complex multi-emotion prompts; expanding beyond emotion to other semantic aspects of image expression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487419"/>
                  </a:ext>
                </a:extLst>
              </a:tr>
              <a:tr h="1441491">
                <a:tc>
                  <a:txBody>
                    <a:bodyPr/>
                    <a:lstStyle/>
                    <a:p>
                      <a:r>
                        <a:rPr lang="en-US" sz="1100" dirty="0"/>
                        <a:t>Lumina Image 2.0: A unified and Efficient Image Generative Framework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Qin, Zhuo et al./2025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Build a unified, efficient text-to-image framework with better prompt adherence and 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Unified Next-</a:t>
                      </a:r>
                      <a:r>
                        <a:rPr lang="en-US" sz="1100" dirty="0" err="1"/>
                        <a:t>DiT</a:t>
                      </a:r>
                      <a:r>
                        <a:rPr lang="en-US" sz="1100" dirty="0"/>
                        <a:t> architecture (joint text-image tokens); </a:t>
                      </a:r>
                      <a:r>
                        <a:rPr lang="en-US" sz="1100" dirty="0" err="1"/>
                        <a:t>UniCap</a:t>
                      </a:r>
                      <a:r>
                        <a:rPr lang="en-US" sz="1100" dirty="0"/>
                        <a:t> captioning system; multi-stage progressive training + inference acceleration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Strong performance on benchmarks with only 2.6B parameters; faster convergence, better prompt adherence, scalable design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Extending unified architecture to video/multimodal tasks; further scaling and real-world deployment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103463"/>
                  </a:ext>
                </a:extLst>
              </a:tr>
              <a:tr h="1823573">
                <a:tc>
                  <a:txBody>
                    <a:bodyPr/>
                    <a:lstStyle/>
                    <a:p>
                      <a:r>
                        <a:rPr lang="en-US" sz="1100" dirty="0"/>
                        <a:t>Prewrite: Prompt Rewriting with Reinforcement Learning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Kong et al. /2023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Automate prompt rewriting using RL to replace manual trial-and-error prompt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LLM-based prompt rewriter trained via Reinforcement Learning on downstream task performance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PRewrite</a:t>
                      </a:r>
                      <a:r>
                        <a:rPr lang="en-US" sz="1100" dirty="0"/>
                        <a:t> outperformed manual prompts on diverse benchmark datasets, showing automated rewriting is effective and consistent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Generalizing across all LLM types; handling highly domain-specific or complex task prompts with RL stability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577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90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8430-F82B-1225-84C1-80CC79E7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C13F1-83B9-9BDD-0351-CF58A618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8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63C08E1-259D-63AA-537E-4F183ED0392E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E1530E-3787-E6F9-C15E-84CF51D7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 Review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AFF439-36C4-618B-AA69-70C0B990D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772669"/>
              </p:ext>
            </p:extLst>
          </p:nvPr>
        </p:nvGraphicFramePr>
        <p:xfrm>
          <a:off x="533400" y="639764"/>
          <a:ext cx="8610600" cy="6218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595">
                  <a:extLst>
                    <a:ext uri="{9D8B030D-6E8A-4147-A177-3AD203B41FA5}">
                      <a16:colId xmlns:a16="http://schemas.microsoft.com/office/drawing/2014/main" val="293984128"/>
                    </a:ext>
                  </a:extLst>
                </a:gridCol>
                <a:gridCol w="1143595">
                  <a:extLst>
                    <a:ext uri="{9D8B030D-6E8A-4147-A177-3AD203B41FA5}">
                      <a16:colId xmlns:a16="http://schemas.microsoft.com/office/drawing/2014/main" val="1147956183"/>
                    </a:ext>
                  </a:extLst>
                </a:gridCol>
                <a:gridCol w="1479946">
                  <a:extLst>
                    <a:ext uri="{9D8B030D-6E8A-4147-A177-3AD203B41FA5}">
                      <a16:colId xmlns:a16="http://schemas.microsoft.com/office/drawing/2014/main" val="3916060908"/>
                    </a:ext>
                  </a:extLst>
                </a:gridCol>
                <a:gridCol w="1856662">
                  <a:extLst>
                    <a:ext uri="{9D8B030D-6E8A-4147-A177-3AD203B41FA5}">
                      <a16:colId xmlns:a16="http://schemas.microsoft.com/office/drawing/2014/main" val="2228671762"/>
                    </a:ext>
                  </a:extLst>
                </a:gridCol>
                <a:gridCol w="1493401">
                  <a:extLst>
                    <a:ext uri="{9D8B030D-6E8A-4147-A177-3AD203B41FA5}">
                      <a16:colId xmlns:a16="http://schemas.microsoft.com/office/drawing/2014/main" val="830534633"/>
                    </a:ext>
                  </a:extLst>
                </a:gridCol>
                <a:gridCol w="1493401">
                  <a:extLst>
                    <a:ext uri="{9D8B030D-6E8A-4147-A177-3AD203B41FA5}">
                      <a16:colId xmlns:a16="http://schemas.microsoft.com/office/drawing/2014/main" val="2245785219"/>
                    </a:ext>
                  </a:extLst>
                </a:gridCol>
              </a:tblGrid>
              <a:tr h="1240153">
                <a:tc>
                  <a:txBody>
                    <a:bodyPr/>
                    <a:lstStyle/>
                    <a:p>
                      <a:r>
                        <a:rPr lang="en-US" sz="1300" dirty="0"/>
                        <a:t>Title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Citation (Author et al. / Year)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Objectives claimed by authors in their paper 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Methodologies used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Outcomes (from result &amp; Discussion)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Gap Identified (Generally from Conclusion &amp; Future scope)</a:t>
                      </a:r>
                      <a:endParaRPr lang="en-IN" sz="1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558255"/>
                  </a:ext>
                </a:extLst>
              </a:tr>
              <a:tr h="2375505">
                <a:tc>
                  <a:txBody>
                    <a:bodyPr/>
                    <a:lstStyle/>
                    <a:p>
                      <a:r>
                        <a:rPr lang="en-US" sz="1300" dirty="0"/>
                        <a:t>Learning from Contrastive Prompts: Automated Optimization and Adaptation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Li et al. /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Improve prompt optimization by learning from both good and bad prompts, and enable prompt adaptation across model versions and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Contrastive learning framework (LCP) that analyzes patterns in good vs. bad prompt examples; evaluated on Big-Bench Hard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LCP achieved 76%+ win rate over existing methods; showed strong adaptability across model versions, families, and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Existing methods only learn from incorrect samples; no prior work addressed prompt adaptation across newer model versions or different languages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487419"/>
                  </a:ext>
                </a:extLst>
              </a:tr>
              <a:tr h="2602575">
                <a:tc>
                  <a:txBody>
                    <a:bodyPr/>
                    <a:lstStyle/>
                    <a:p>
                      <a:r>
                        <a:rPr lang="da-DK" sz="1300" dirty="0"/>
                        <a:t>Prompt Optimization via In Context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300" dirty="0"/>
                        <a:t>Do, Zhao et al. /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Optimize prompts for in-context learning using adversarial learning between a generator and discriminator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Two-player adversarial game: generator produces output, discriminator classifies it; a prompt modifier LLM proposes edits based on adversarial loss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Significant improvements over state-of-the-art on 13 tasks (summarization, reasoning, translation, MMLU, Big-Bench Hard); effective in low-resource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Adversarial learning not yet applied to broader multi-modal or complex multi-step reasoning tasks; extensibility to very large-scale models needs further study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103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78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5F4E-FA5E-63E6-B99F-7F510C7D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CFE96-522E-3254-5FD9-FBD61850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9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6352871-214B-D1F3-DCAA-DB25B40DF793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3927BA-579D-116B-BD56-EBCC9F957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Researc</a:t>
            </a:r>
            <a:r>
              <a:rPr lang="en-US" dirty="0"/>
              <a:t>h Gaps Identified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63463B-124B-5FD9-FDD1-FEF96F678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680145"/>
            <a:ext cx="6610350" cy="616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8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73DC-90DE-37F9-604B-59922AEC6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3AD26-BCF8-96F5-6C7E-E9F7ABFC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10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C0270F6F-C76D-F5DE-0296-399CE5DB02CF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1C93CA-5139-F86C-7079-C5973831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Objectives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5D61AC-6BAB-AC8E-58F8-A436A2A99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91247"/>
            <a:ext cx="7220564" cy="548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3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9E43-F11D-2C80-5024-1414476DF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13355-5580-2EBE-E61B-137A15454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11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E7B8049-18DF-AB78-8D1A-14211247934D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F28F91-7411-E3C1-C013-55994333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Problem Statement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7D955-9A94-B230-A2DE-D101663C1C8F}"/>
              </a:ext>
            </a:extLst>
          </p:cNvPr>
          <p:cNvSpPr txBox="1"/>
          <p:nvPr/>
        </p:nvSpPr>
        <p:spPr>
          <a:xfrm>
            <a:off x="533400" y="639765"/>
            <a:ext cx="8458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There is a need for a transparent and user-friendly system that enables non-experts to generate high-quality AI images through simplified and guided prompt optimization.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>
                <a:effectLst/>
              </a:rPr>
              <a:t>Elaboration: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Most AI image generation tools require detailed, technical prompts that beginners struggle to create.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Existing automatic prompt enhancement systems function as black boxes with no visibility into how prompts are improved.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Users cannot learn or refine their prompt-writing skills due to lack of transparency and feedback.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Iterative improvement is inefficient, forcing users to repeatedly rewrite prompts from scratch when results are unsatisfactory.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78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1E98-5AAC-4F3C-1D51-1D85DC8B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DB5-52C3-46BF-D6CE-9728012B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12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8FC83D1-4A36-4021-41AC-6306C25EE7F8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9DE6D4-1B05-94AD-22C1-3844F08A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Proposed Solution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9329ED-6018-A682-86C0-772D391AB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245" y="701040"/>
            <a:ext cx="5731510" cy="5455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203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E76F8-8D91-8281-CCAA-274FFCCB2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EE9E3-97F3-A808-D2C6-CCB52C2B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13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00C16C1-BDB8-2F94-5481-6A3EEE649FB2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E05022-7F6A-EAAB-0607-8C48C72F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Tools and Tech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8E182A-5BD4-822C-1525-5CF5BC8A9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118046"/>
              </p:ext>
            </p:extLst>
          </p:nvPr>
        </p:nvGraphicFramePr>
        <p:xfrm>
          <a:off x="762000" y="1066800"/>
          <a:ext cx="7924800" cy="313166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76286033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704470630"/>
                    </a:ext>
                  </a:extLst>
                </a:gridCol>
              </a:tblGrid>
              <a:tr h="659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Technologies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712633"/>
                  </a:ext>
                </a:extLst>
              </a:tr>
              <a:tr h="659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Frontend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 18, Vite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046797"/>
                  </a:ext>
                </a:extLst>
              </a:tr>
              <a:tr h="1153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Backend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Node.js, Express.js, OpenAI API, Image Generation API, 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786788"/>
                  </a:ext>
                </a:extLst>
              </a:tr>
              <a:tr h="659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Deployment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Git, GitHub, Render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9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35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FC855-6770-E65C-C7B0-84A9A2548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0D0A3-BE62-2FCD-81D7-C2A5A066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14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3A4155E-1D30-C3AE-6822-D5CE4C57474E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377408-6701-1CB9-0D61-EFC80222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Project Flow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D0C75E-A12A-EF2D-06A1-638DDA217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245" y="623887"/>
            <a:ext cx="5731510" cy="5610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175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1E85-A889-C277-19FD-267596F5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8EA89-45D0-A846-E1BE-C7626A25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15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13A905B4-6605-DFED-CF79-C2D8DBF172DB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743897-B640-4F48-A972-D3214B5C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A3902-E376-E6C0-882D-0011127D8E90}"/>
              </a:ext>
            </a:extLst>
          </p:cNvPr>
          <p:cNvSpPr txBox="1"/>
          <p:nvPr/>
        </p:nvSpPr>
        <p:spPr>
          <a:xfrm>
            <a:off x="571500" y="762000"/>
            <a:ext cx="82677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PromptPixel</a:t>
            </a:r>
            <a:r>
              <a:rPr lang="en-US" dirty="0">
                <a:effectLst/>
              </a:rPr>
              <a:t> demonstrates how AI-powered image generation can be integrated into a full-stack application using a modern web architecture.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system allows users to enter prompts and generate images instantly, improving creativity and rapid content creation.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By integrating a backend API with database storage using MongoDB, all generated images and prompts can be saved and displayed efficiently.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project highlights the practical use of AI APIs, backend services, and frontend frameworks working together in a real-world application.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Overall, </a:t>
            </a:r>
            <a:r>
              <a:rPr lang="en-US" dirty="0" err="1">
                <a:effectLst/>
              </a:rPr>
              <a:t>PromptPixel</a:t>
            </a:r>
            <a:r>
              <a:rPr lang="en-US" dirty="0">
                <a:effectLst/>
              </a:rPr>
              <a:t> shows how AI tools can enhance user interaction and automate creative tasks, making digital content generation faster and more accessible.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3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28B12-D811-69D1-4267-CE9E7695D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39367-1602-34D5-D6F0-BEED9346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16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EBA33783-BAB6-8F97-F8A5-C6F07331793C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10718-B4FA-5208-0FB6-6CB2DF26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References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8CC90-B858-5B85-56E7-87638AAE3104}"/>
              </a:ext>
            </a:extLst>
          </p:cNvPr>
          <p:cNvSpPr txBox="1"/>
          <p:nvPr/>
        </p:nvSpPr>
        <p:spPr>
          <a:xfrm>
            <a:off x="381000" y="838200"/>
            <a:ext cx="8305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marR="0" indent="-18034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340" marR="0" indent="-18034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H. Ye, J. Zhang, L. Wang, and Q. Liu, “IPGO: Indirect Prompt Gradient Optimization for Text-to-Image Generation,” </a:t>
            </a:r>
            <a:r>
              <a:rPr lang="en-IN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arXiv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preprint arXiv:2503.21812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2025, pp. 1–12.</a:t>
            </a:r>
          </a:p>
          <a:p>
            <a:pPr marL="180340" marR="0" indent="-18034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C. Yeh, Y. Lin, and M. Sun, “TIPO: Text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Presampling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Prompt Optimization in Text-to-Image Generation,” </a:t>
            </a:r>
            <a:r>
              <a:rPr lang="en-IN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arXiv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preprint arXiv:2411.08127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2024, pp. 1–10.</a:t>
            </a:r>
          </a:p>
          <a:p>
            <a:pPr marL="180340" marR="0" indent="-18034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Z. Chen, H. Li, R. Xu, and T. Zhao, “Prompt Rewriter: Automated Prompt Optimization using Direct Preference Optimization for Text-to-Image Models,” </a:t>
            </a:r>
            <a:r>
              <a:rPr lang="en-IN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arXiv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preprint arXiv:2510.12041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2025, pp. 1–14.</a:t>
            </a:r>
          </a:p>
          <a:p>
            <a:pPr marL="180340" marR="0" indent="-18034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 X. Li, Y. Zhou, and K. Chen, “A Survey of Automatic Prompt Engineering: An Optimization Perspective,” in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Proc. Int. Conf. Artificial Intelligence and Machine Learning (ICAIML)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2025, pp. 45–60.</a:t>
            </a:r>
          </a:p>
          <a:p>
            <a:pPr marL="180340" marR="0" indent="-18034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[5] S. Ramnath, P. Gupta, and A. Verma, “A Systematic Survey of Automatic Prompt Optimization Techniques for Large Language Models,” </a:t>
            </a:r>
            <a:r>
              <a:rPr lang="en-IN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arXiv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preprint arXiv:2502.16923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2025, pp. 1–20.</a:t>
            </a:r>
          </a:p>
          <a:p>
            <a:pPr marL="180340" marR="0" indent="-180340">
              <a:buNone/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340" marR="0" indent="-18034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0418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1899-9D4B-494C-50A5-37BCD5F66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D39D5-92F4-BE75-C5F6-EC4914A8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400" y="6477000"/>
            <a:ext cx="1600200" cy="195263"/>
          </a:xfrm>
        </p:spPr>
        <p:txBody>
          <a:bodyPr/>
          <a:lstStyle/>
          <a:p>
            <a:pPr>
              <a:defRPr/>
            </a:pPr>
            <a:fld id="{02246FD1-0723-4B2F-9706-10282F2BA69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17</a:t>
            </a:fld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2233A83-90D8-0FEF-C26C-398BA7DBC3D0}"/>
              </a:ext>
            </a:extLst>
          </p:cNvPr>
          <p:cNvSpPr txBox="1">
            <a:spLocks noChangeArrowheads="1"/>
          </p:cNvSpPr>
          <p:nvPr/>
        </p:nvSpPr>
        <p:spPr>
          <a:xfrm>
            <a:off x="1543050" y="3371850"/>
            <a:ext cx="6286500" cy="342900"/>
          </a:xfrm>
          <a:prstGeom prst="rect">
            <a:avLst/>
          </a:prstGeom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20000"/>
              </a:spcAft>
              <a:defRPr/>
            </a:pPr>
            <a:endParaRPr lang="en-US" sz="3600" dirty="0">
              <a:sym typeface="Symbol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54B5C6-C320-A279-B56A-7E27C7F5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References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7F8D8-99C7-0002-519D-37AA03BB76FC}"/>
              </a:ext>
            </a:extLst>
          </p:cNvPr>
          <p:cNvSpPr txBox="1"/>
          <p:nvPr/>
        </p:nvSpPr>
        <p:spPr>
          <a:xfrm>
            <a:off x="381000" y="838200"/>
            <a:ext cx="8305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marR="0" indent="-18034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dirty="0"/>
              <a:t>[6] Y. Wang, S. Shen, and B. Y. Lim, "</a:t>
            </a:r>
            <a:r>
              <a:rPr lang="en-IN" dirty="0" err="1"/>
              <a:t>RePrompt</a:t>
            </a:r>
            <a:r>
              <a:rPr lang="en-IN" dirty="0"/>
              <a:t>: Automatic Prompt Editing to Refine AI-Generative Art Towards Precise Expressions," in Proceedings of the CHI Conference on Human Factors in Computing Systems (CHI), 2024.</a:t>
            </a:r>
          </a:p>
          <a:p>
            <a:r>
              <a:rPr lang="en-IN" dirty="0"/>
              <a:t>[7] Q. Qin, L. Zhuo, Y. Xin, R. Du, Z. Li, B. Fu, Y. Lu, J. Yuan, X. Li, D. Liu, X. Zhu, M. Zhang, W. Beddow, E. Millon, V. Perez, W. Wang, C. He, B. Zhang, X. Liu, H. Li, Y. Qiao, C. Xu, and P. Gao, "Lumina-Image 2.0: A Unified and Efficient Image Generative Framework," </a:t>
            </a:r>
            <a:r>
              <a:rPr lang="en-IN" dirty="0" err="1"/>
              <a:t>arXiv</a:t>
            </a:r>
            <a:r>
              <a:rPr lang="en-IN" dirty="0"/>
              <a:t> preprint arXiv:2503.21758, Mar. 2025.</a:t>
            </a:r>
          </a:p>
          <a:p>
            <a:r>
              <a:rPr lang="en-IN" dirty="0"/>
              <a:t>[8] W. Kong, S. Amba </a:t>
            </a:r>
            <a:r>
              <a:rPr lang="en-IN" dirty="0" err="1"/>
              <a:t>Hombaiah</a:t>
            </a:r>
            <a:r>
              <a:rPr lang="en-IN" dirty="0"/>
              <a:t>, M. Zhang, Q. Mei, and M. Bendersky, "</a:t>
            </a:r>
            <a:r>
              <a:rPr lang="en-IN" dirty="0" err="1"/>
              <a:t>PRewrite</a:t>
            </a:r>
            <a:r>
              <a:rPr lang="en-IN" dirty="0"/>
              <a:t>: Prompt Rewriting with Reinforcement Learning," in Proceedings of the Annual Conference of the North American Chapter of the Association for Computational Linguistics (NAACL), 2024.</a:t>
            </a:r>
          </a:p>
          <a:p>
            <a:r>
              <a:rPr lang="en-IN" dirty="0"/>
              <a:t>[9] M. Li, A. Ahmad, K. Aggarwal, Y. Xie, and S. Lau, "Learning from Contrastive Prompts: Automated Optimization and Adaptation," </a:t>
            </a:r>
            <a:r>
              <a:rPr lang="en-IN" dirty="0" err="1"/>
              <a:t>arXiv</a:t>
            </a:r>
            <a:r>
              <a:rPr lang="en-IN" dirty="0"/>
              <a:t> preprint arXiv:2409.15199, Sep. 2024.</a:t>
            </a:r>
          </a:p>
          <a:p>
            <a:r>
              <a:rPr lang="en-IN"/>
              <a:t>[10] </a:t>
            </a:r>
            <a:r>
              <a:rPr lang="en-IN" dirty="0"/>
              <a:t>X. L. Do, Y. Zhao, H. Brown, Y. Xie, J. X. Zhao, N. F. Chen, K. Kawaguchi, M. Shieh, and J. He, "Prompt Optimization via Adversarial In-Context Learning," </a:t>
            </a:r>
            <a:r>
              <a:rPr lang="en-IN" dirty="0" err="1"/>
              <a:t>arXiv</a:t>
            </a:r>
            <a:r>
              <a:rPr lang="en-IN" dirty="0"/>
              <a:t> preprint arXiv:2312.02614, Jun. 2024.</a:t>
            </a:r>
          </a:p>
          <a:p>
            <a:pPr marL="180340" marR="0" indent="-180340">
              <a:buNone/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340" marR="0" indent="-18034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3500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75AE0-77E4-407A-BB5E-C90983A0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246FD1-0723-4B2F-9706-10282F2BA698}" type="slidenum">
              <a:rPr lang="en-US" smtClean="0"/>
              <a:pPr>
                <a:defRPr/>
              </a:pPr>
              <a:t>18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E7B6C1-34DD-4024-950E-5180109220B6}"/>
              </a:ext>
            </a:extLst>
          </p:cNvPr>
          <p:cNvSpPr/>
          <p:nvPr/>
        </p:nvSpPr>
        <p:spPr>
          <a:xfrm>
            <a:off x="2918984" y="2967335"/>
            <a:ext cx="33060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3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2122</Words>
  <Application>Microsoft Office PowerPoint</Application>
  <PresentationFormat>On-screen Show (4:3)</PresentationFormat>
  <Paragraphs>190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Symbol</vt:lpstr>
      <vt:lpstr>Times New Roman</vt:lpstr>
      <vt:lpstr>Verdana</vt:lpstr>
      <vt:lpstr>Office Theme</vt:lpstr>
      <vt:lpstr>PromptPixel-Automatic Prompt Optimization and Image Generation</vt:lpstr>
      <vt:lpstr>Content</vt:lpstr>
      <vt:lpstr>Introduction</vt:lpstr>
      <vt:lpstr>Motivation</vt:lpstr>
      <vt:lpstr>Literature Review</vt:lpstr>
      <vt:lpstr>Literature Review</vt:lpstr>
      <vt:lpstr>Literature Review</vt:lpstr>
      <vt:lpstr>Literature Review</vt:lpstr>
      <vt:lpstr>Research Gaps Identified</vt:lpstr>
      <vt:lpstr>Objectives</vt:lpstr>
      <vt:lpstr>Problem Statement</vt:lpstr>
      <vt:lpstr>Proposed Solution</vt:lpstr>
      <vt:lpstr>Tools and Tech</vt:lpstr>
      <vt:lpstr>Project Flow</vt:lpstr>
      <vt:lpstr>Conclusion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ARYA SHINDE</cp:lastModifiedBy>
  <cp:revision>88</cp:revision>
  <dcterms:created xsi:type="dcterms:W3CDTF">2006-08-16T00:00:00Z</dcterms:created>
  <dcterms:modified xsi:type="dcterms:W3CDTF">2026-03-10T17:32:53Z</dcterms:modified>
</cp:coreProperties>
</file>